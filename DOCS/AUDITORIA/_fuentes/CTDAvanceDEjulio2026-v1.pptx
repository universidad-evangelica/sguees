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5" r:id="rId2"/>
    <p:sldId id="257" r:id="rId3"/>
    <p:sldId id="283" r:id="rId4"/>
    <p:sldId id="284" r:id="rId5"/>
    <p:sldId id="285" r:id="rId6"/>
    <p:sldId id="287" r:id="rId7"/>
    <p:sldId id="286" r:id="rId8"/>
    <p:sldId id="294" r:id="rId9"/>
    <p:sldId id="266" r:id="rId10"/>
    <p:sldId id="282" r:id="rId11"/>
    <p:sldId id="288" r:id="rId12"/>
    <p:sldId id="262" r:id="rId13"/>
    <p:sldId id="297" r:id="rId14"/>
    <p:sldId id="276" r:id="rId15"/>
    <p:sldId id="280" r:id="rId16"/>
    <p:sldId id="29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489789-1B00-D770-75A0-ADC5AF966DAC}" name="Omar Villanueva" initials="NV" userId="S::omar.villanueva@uees.edu.sv::0053ba41-6a35-4849-b50a-d5be6f12308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ED5"/>
    <a:srgbClr val="FE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012530-27C6-3972-BC82-698F1897EF7E}" v="18" dt="2026-07-29T18:39:41.847"/>
    <p1510:client id="{2A8BFD24-7F36-4A94-B12A-1DED34096ECC}" v="28" dt="2026-07-28T20:39:27.660"/>
    <p1510:client id="{E851643A-A8C7-4E6D-984D-CA601529333D}" v="3347" dt="2026-07-29T22:47:53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60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 b="1"/>
            </a:pPr>
            <a:r>
              <a:rPr lang="es-SV" noProof="0"/>
              <a:t>Avance por fase (%)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2916302791696493"/>
          <c:y val="0.15813953488372093"/>
          <c:w val="0.84525554760200428"/>
          <c:h val="0.51162790697674421"/>
        </c:manualLayout>
      </c:layout>
      <c:barChart>
        <c:barDir val="col"/>
        <c:grouping val="clustered"/>
        <c:varyColors val="0"/>
        <c:ser>
          <c:idx val="0"/>
          <c:order val="0"/>
          <c:tx>
            <c:v>T1 (mar)</c:v>
          </c:tx>
          <c:spPr>
            <a:solidFill>
              <a:srgbClr val="94A3B8"/>
            </a:solidFill>
          </c:spPr>
          <c:invertIfNegative val="0"/>
          <c:dLbls>
            <c:dLbl>
              <c:idx val="0"/>
              <c:layout>
                <c:manualLayout>
                  <c:x val="-1.9047619047619049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F9-4038-886A-4D1DF0E9355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es-SV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Identificación de
procedimientos</c:v>
                </c:pt>
                <c:pt idx="1">
                  <c:v>Análisis de
requerimientos</c:v>
                </c:pt>
                <c:pt idx="2">
                  <c:v>Diseño y
planificación</c:v>
                </c:pt>
                <c:pt idx="3">
                  <c:v>Desarrollo</c:v>
                </c:pt>
              </c:strCache>
            </c:strRef>
          </c:cat>
          <c:val>
            <c:numRef>
              <c:f>Hoja1!$B$2:$B$5</c:f>
              <c:numCache>
                <c:formatCode>General</c:formatCode>
                <c:ptCount val="4"/>
                <c:pt idx="0">
                  <c:v>40.9</c:v>
                </c:pt>
                <c:pt idx="1">
                  <c:v>5</c:v>
                </c:pt>
                <c:pt idx="2">
                  <c:v>39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F9-4038-886A-4D1DF0E93559}"/>
            </c:ext>
          </c:extLst>
        </c:ser>
        <c:ser>
          <c:idx val="1"/>
          <c:order val="1"/>
          <c:tx>
            <c:v>T2 (jun)</c:v>
          </c:tx>
          <c:spPr>
            <a:solidFill>
              <a:srgbClr val="2B5BA8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Hoja1!$A$2:$A$5</c:f>
              <c:strCache>
                <c:ptCount val="4"/>
                <c:pt idx="0">
                  <c:v>Identificación de
procedimientos</c:v>
                </c:pt>
                <c:pt idx="1">
                  <c:v>Análisis de
requerimientos</c:v>
                </c:pt>
                <c:pt idx="2">
                  <c:v>Diseño y
planificación</c:v>
                </c:pt>
                <c:pt idx="3">
                  <c:v>Desarrollo</c:v>
                </c:pt>
              </c:strCache>
            </c:strRef>
          </c:cat>
          <c:val>
            <c:numRef>
              <c:f>Hoja1!$C$2:$C$5</c:f>
              <c:numCache>
                <c:formatCode>General</c:formatCode>
                <c:ptCount val="4"/>
                <c:pt idx="0">
                  <c:v>89.5</c:v>
                </c:pt>
                <c:pt idx="1">
                  <c:v>8</c:v>
                </c:pt>
                <c:pt idx="2">
                  <c:v>85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9F9-4038-886A-4D1DF0E93559}"/>
            </c:ext>
          </c:extLst>
        </c:ser>
        <c:ser>
          <c:idx val="2"/>
          <c:order val="2"/>
          <c:tx>
            <c:strRef>
              <c:f>Hoja1!$D$1</c:f>
              <c:strCache>
                <c:ptCount val="1"/>
              </c:strCache>
            </c:strRef>
          </c:tx>
          <c:invertIfNegative val="0"/>
          <c:cat>
            <c:strRef>
              <c:f>Hoja1!$A$2:$A$5</c:f>
              <c:strCache>
                <c:ptCount val="4"/>
                <c:pt idx="0">
                  <c:v>Identificación de
procedimientos</c:v>
                </c:pt>
                <c:pt idx="1">
                  <c:v>Análisis de
requerimientos</c:v>
                </c:pt>
                <c:pt idx="2">
                  <c:v>Diseño y
planificación</c:v>
                </c:pt>
                <c:pt idx="3">
                  <c:v>Desarrollo</c:v>
                </c:pt>
              </c:strCache>
            </c:strRef>
          </c:cat>
          <c:val>
            <c:numRef>
              <c:f>Hoja1!$D$2:$D$5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09F9-4038-886A-4D1DF0E935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06641104"/>
        <c:axId val="1035917584"/>
      </c:barChart>
      <c:catAx>
        <c:axId val="10066411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 rot="0" vert="horz"/>
          <a:lstStyle/>
          <a:p>
            <a:pPr>
              <a:defRPr sz="700" b="0"/>
            </a:pPr>
            <a:endParaRPr lang="es-SV"/>
          </a:p>
        </c:txPr>
        <c:crossAx val="1035917584"/>
        <c:crosses val="autoZero"/>
        <c:auto val="1"/>
        <c:lblAlgn val="ctr"/>
        <c:lblOffset val="100"/>
        <c:noMultiLvlLbl val="0"/>
      </c:catAx>
      <c:valAx>
        <c:axId val="1035917584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00664110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es-SV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txPr>
    <a:bodyPr/>
    <a:lstStyle/>
    <a:p>
      <a:pPr>
        <a:defRPr sz="1800"/>
      </a:pPr>
      <a:endParaRPr lang="es-SV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598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70E9E-F070-7394-C2F1-4C930A60F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BC1A8C-FAC2-3579-AE95-55A5C135B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3F6FCE-FEE7-A7CD-7A14-0EC2FCCAB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02A84-7BBC-DCB1-9E36-5380824BDB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07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7F4DC-9A99-33E8-DBC2-8D3E860D8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B1823-3199-99A8-F913-79A485372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22387A-0F7F-95F3-BCC2-420C31DDA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D1EA4-DF14-DFA9-5878-B87DA808E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307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2D77C-E783-9E46-97B3-ADD4165C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9F347F-3F41-BAED-3497-323FCB413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C0644-3E93-B884-8872-D6F7A555D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5AD75-DA57-0A02-8224-FD86D0EDC9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18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uees-my.sharepoint.com/:w:/g/personal/jonathan_avalos_uees_edu_sv/IQAIHa8bTL7RQKGFNIGcGm6NAU1ScqhophnIcCoCtaH6ciQ?e=b4tgOp" TargetMode="Externa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uees-my.sharepoint.com/:w:/g/personal/jonathan_avalos_uees_edu_sv/IQBhCBSEXFwpSbODD8FqmSKuAUMluakwVKQoeCxErKVLw7k?e=6bhEX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"/>
            <a:ext cx="1828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 0" descr="/home/claude/uees_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1828800" cy="1691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377440" y="320040"/>
            <a:ext cx="0" cy="1463040"/>
          </a:xfrm>
          <a:prstGeom prst="line">
            <a:avLst/>
          </a:prstGeom>
          <a:noFill/>
          <a:ln w="19050">
            <a:solidFill>
              <a:srgbClr val="FCC8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2606040" y="32004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000" b="0" i="0" u="none" strike="noStrike" kern="0" cap="none" spc="15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EVANGÉLICA DE EL SALVADOR</a:t>
            </a:r>
            <a:endParaRPr kumimoji="0" lang="es-SV" sz="10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2606040" y="658368"/>
            <a:ext cx="6217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800" b="1" i="0" u="none" strike="noStrike" kern="1200" cap="none" spc="0" normalizeH="0" baseline="0" noProof="0">
                <a:ln>
                  <a:noFill/>
                </a:ln>
                <a:solidFill>
                  <a:srgbClr val="FCC8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Transformación Digital</a:t>
            </a: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2606040" y="1115568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Ruta de Transformación Digital 2026–2030</a:t>
            </a:r>
            <a:endParaRPr kumimoji="0" lang="es-SV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965960"/>
            <a:ext cx="8258175" cy="1107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Informe de Avance</a:t>
            </a:r>
            <a:endParaRPr kumimoji="0" lang="es-SV" sz="4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3142107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2B5BA8"/>
          </a:solidFill>
          <a:ln w="12700">
            <a:solidFill>
              <a:srgbClr val="FCC8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8640" y="3142107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Abril a Junio 2026</a:t>
            </a:r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57600" y="3142107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2B5BA8"/>
          </a:solidFill>
          <a:ln w="12700">
            <a:solidFill>
              <a:srgbClr val="FCC83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SV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657600" y="3142107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200" b="1" i="0" u="none" strike="noStrike" kern="1200" cap="none" spc="0" normalizeH="0" baseline="0" noProof="0">
                <a:ln>
                  <a:noFill/>
                </a:ln>
                <a:solidFill>
                  <a:srgbClr val="FCC83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OE7 · OE8  |  PEI 2026–2030</a:t>
            </a:r>
            <a:endParaRPr kumimoji="0" lang="es-SV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371189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1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Dra. Nadia Menjívar    </a:t>
            </a:r>
            <a:r>
              <a:rPr kumimoji="0" lang="es-SV" sz="11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Directora General de Gestión Estratégica Institucional</a:t>
            </a:r>
            <a:endParaRPr kumimoji="0" lang="es-SV" sz="11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48640" y="398621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s-SV" sz="1100" b="1" noProof="0" dirty="0">
                <a:solidFill>
                  <a:srgbClr val="002060"/>
                </a:solidFill>
                <a:ea typeface="Calibri"/>
                <a:cs typeface="Calibri"/>
              </a:rPr>
              <a:t>Ing. Jonathan Avalos</a:t>
            </a:r>
            <a:r>
              <a:rPr lang="es-SV" sz="1100" noProof="0" dirty="0">
                <a:solidFill>
                  <a:srgbClr val="002060"/>
                </a:solidFill>
                <a:ea typeface="Calibri"/>
                <a:cs typeface="Calibri"/>
              </a:rPr>
              <a:t>   </a:t>
            </a:r>
            <a:r>
              <a:rPr lang="es-SV" sz="1100" dirty="0">
                <a:solidFill>
                  <a:srgbClr val="002060"/>
                </a:solidFill>
                <a:ea typeface="Calibri"/>
                <a:cs typeface="Calibri"/>
              </a:rPr>
              <a:t>Jefe Departamento</a:t>
            </a:r>
            <a:r>
              <a:rPr lang="es-SV" sz="1100" noProof="0" dirty="0">
                <a:solidFill>
                  <a:srgbClr val="002060"/>
                </a:solidFill>
                <a:ea typeface="Calibri"/>
                <a:cs typeface="Calibri"/>
              </a:rPr>
              <a:t> de Tecnología de la Información</a:t>
            </a:r>
          </a:p>
        </p:txBody>
      </p:sp>
      <p:sp>
        <p:nvSpPr>
          <p:cNvPr id="16" name="Text 13"/>
          <p:cNvSpPr/>
          <p:nvPr/>
        </p:nvSpPr>
        <p:spPr>
          <a:xfrm>
            <a:off x="0" y="4663440"/>
            <a:ext cx="9061409" cy="480060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SV" sz="1100" b="1" i="0" u="none" strike="noStrike" kern="1200" cap="none" spc="0" normalizeH="0" baseline="0" noProof="0">
                <a:ln>
                  <a:noFill/>
                </a:ln>
                <a:solidFill>
                  <a:srgbClr val="1A3A6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kumimoji="0" lang="es-SV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A7AEE68-2C8A-B82F-55E3-7328259E3F99}"/>
              </a:ext>
            </a:extLst>
          </p:cNvPr>
          <p:cNvSpPr/>
          <p:nvPr/>
        </p:nvSpPr>
        <p:spPr>
          <a:xfrm>
            <a:off x="548640" y="4260533"/>
            <a:ext cx="82296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lvl="0">
              <a:defRPr/>
            </a:pPr>
            <a:r>
              <a:rPr lang="es-SV" sz="1100" b="1" noProof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Omar Villanueva</a:t>
            </a:r>
            <a:r>
              <a:rPr lang="es-SV" sz="1100" noProof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Director de Transformación Digital</a:t>
            </a:r>
            <a:endParaRPr lang="es-SV" sz="1100" noProof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Ruta de Transformación Digital — </a:t>
            </a:r>
            <a:r>
              <a:rPr lang="es-SV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2026-2030</a:t>
            </a:r>
            <a:endParaRPr lang="es-SV" sz="1800" noProof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6" name="Shape 3"/>
          <p:cNvSpPr/>
          <p:nvPr/>
        </p:nvSpPr>
        <p:spPr>
          <a:xfrm>
            <a:off x="320040" y="868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7" name="Text 4"/>
          <p:cNvSpPr/>
          <p:nvPr/>
        </p:nvSpPr>
        <p:spPr>
          <a:xfrm>
            <a:off x="320040" y="868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noProof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</a:t>
            </a:r>
            <a:endParaRPr lang="es-SV" sz="1100" noProof="0"/>
          </a:p>
          <a:p>
            <a:pPr marL="0" indent="0" algn="ctr">
              <a:buNone/>
            </a:pPr>
            <a:r>
              <a:rPr lang="es-SV" sz="1100" noProof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2025</a:t>
            </a:r>
            <a:endParaRPr lang="es-SV" sz="1100" noProof="0"/>
          </a:p>
        </p:txBody>
      </p:sp>
      <p:sp>
        <p:nvSpPr>
          <p:cNvPr id="8" name="Text 5"/>
          <p:cNvSpPr/>
          <p:nvPr/>
        </p:nvSpPr>
        <p:spPr>
          <a:xfrm>
            <a:off x="320040" y="1325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3800" b="1" noProof="0">
                <a:solidFill>
                  <a:srgbClr val="F5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2.49</a:t>
            </a:r>
            <a:endParaRPr lang="es-SV" sz="3800" noProof="0"/>
          </a:p>
        </p:txBody>
      </p:sp>
      <p:sp>
        <p:nvSpPr>
          <p:cNvPr id="9" name="Text 6"/>
          <p:cNvSpPr/>
          <p:nvPr/>
        </p:nvSpPr>
        <p:spPr>
          <a:xfrm>
            <a:off x="320040" y="1993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900" noProof="0">
                <a:solidFill>
                  <a:srgbClr val="FCC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Emergente</a:t>
            </a:r>
            <a:endParaRPr lang="es-SV" sz="900" noProof="0"/>
          </a:p>
        </p:txBody>
      </p:sp>
      <p:sp>
        <p:nvSpPr>
          <p:cNvPr id="10" name="Shape 7"/>
          <p:cNvSpPr/>
          <p:nvPr/>
        </p:nvSpPr>
        <p:spPr>
          <a:xfrm>
            <a:off x="3474720" y="868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2B5BA8"/>
          </a:solidFill>
          <a:ln w="12700">
            <a:solidFill>
              <a:srgbClr val="F5B80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11" name="Text 8"/>
          <p:cNvSpPr/>
          <p:nvPr/>
        </p:nvSpPr>
        <p:spPr>
          <a:xfrm>
            <a:off x="3474720" y="868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noProof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2026</a:t>
            </a:r>
            <a:endParaRPr lang="es-SV" sz="1100" noProof="0"/>
          </a:p>
        </p:txBody>
      </p:sp>
      <p:sp>
        <p:nvSpPr>
          <p:cNvPr id="12" name="Text 9"/>
          <p:cNvSpPr/>
          <p:nvPr/>
        </p:nvSpPr>
        <p:spPr>
          <a:xfrm>
            <a:off x="3474720" y="1325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3800" b="1" noProof="0">
                <a:solidFill>
                  <a:srgbClr val="F5B8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2.59</a:t>
            </a:r>
            <a:endParaRPr lang="es-SV" sz="3800" noProof="0"/>
          </a:p>
        </p:txBody>
      </p:sp>
      <p:sp>
        <p:nvSpPr>
          <p:cNvPr id="13" name="Text 10"/>
          <p:cNvSpPr/>
          <p:nvPr/>
        </p:nvSpPr>
        <p:spPr>
          <a:xfrm>
            <a:off x="3474720" y="1993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900" noProof="0">
                <a:solidFill>
                  <a:srgbClr val="FCC8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Fase: Consolidación de Gobernanza</a:t>
            </a:r>
            <a:endParaRPr lang="es-SV" sz="900" noProof="0"/>
          </a:p>
        </p:txBody>
      </p:sp>
      <p:sp>
        <p:nvSpPr>
          <p:cNvPr id="14" name="Shape 11"/>
          <p:cNvSpPr/>
          <p:nvPr/>
        </p:nvSpPr>
        <p:spPr>
          <a:xfrm>
            <a:off x="6629400" y="868680"/>
            <a:ext cx="2468880" cy="1508760"/>
          </a:xfrm>
          <a:prstGeom prst="roundRect">
            <a:avLst>
              <a:gd name="adj" fmla="val 6061"/>
            </a:avLst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15" name="Text 12"/>
          <p:cNvSpPr/>
          <p:nvPr/>
        </p:nvSpPr>
        <p:spPr>
          <a:xfrm>
            <a:off x="6629400" y="868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noProof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2030</a:t>
            </a:r>
            <a:endParaRPr lang="es-SV" sz="1100" noProof="0"/>
          </a:p>
        </p:txBody>
      </p:sp>
      <p:sp>
        <p:nvSpPr>
          <p:cNvPr id="16" name="Text 13"/>
          <p:cNvSpPr/>
          <p:nvPr/>
        </p:nvSpPr>
        <p:spPr>
          <a:xfrm>
            <a:off x="6629400" y="13258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3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3.00</a:t>
            </a:r>
            <a:endParaRPr lang="es-SV" sz="3800" noProof="0"/>
          </a:p>
        </p:txBody>
      </p:sp>
      <p:sp>
        <p:nvSpPr>
          <p:cNvPr id="17" name="Text 14"/>
          <p:cNvSpPr/>
          <p:nvPr/>
        </p:nvSpPr>
        <p:spPr>
          <a:xfrm>
            <a:off x="6629400" y="19933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900" noProof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Evolucionado</a:t>
            </a:r>
            <a:endParaRPr lang="es-SV" sz="900" noProof="0"/>
          </a:p>
        </p:txBody>
      </p:sp>
      <p:sp>
        <p:nvSpPr>
          <p:cNvPr id="18" name="Shape 15"/>
          <p:cNvSpPr/>
          <p:nvPr/>
        </p:nvSpPr>
        <p:spPr>
          <a:xfrm>
            <a:off x="2926080" y="1572768"/>
            <a:ext cx="457200" cy="0"/>
          </a:xfrm>
          <a:prstGeom prst="line">
            <a:avLst/>
          </a:prstGeom>
          <a:noFill/>
          <a:ln w="254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19" name="Shape 16"/>
          <p:cNvSpPr/>
          <p:nvPr/>
        </p:nvSpPr>
        <p:spPr>
          <a:xfrm>
            <a:off x="6080760" y="1572768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0" name="Shape 17"/>
          <p:cNvSpPr/>
          <p:nvPr/>
        </p:nvSpPr>
        <p:spPr>
          <a:xfrm>
            <a:off x="320040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EBF1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1" name="Text 18"/>
          <p:cNvSpPr/>
          <p:nvPr/>
        </p:nvSpPr>
        <p:spPr>
          <a:xfrm>
            <a:off x="320040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s-SV" sz="1100" noProof="0"/>
          </a:p>
        </p:txBody>
      </p:sp>
      <p:sp>
        <p:nvSpPr>
          <p:cNvPr id="22" name="Text 19"/>
          <p:cNvSpPr/>
          <p:nvPr/>
        </p:nvSpPr>
        <p:spPr>
          <a:xfrm>
            <a:off x="320040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Gobernanza</a:t>
            </a:r>
            <a:endParaRPr lang="es-SV" sz="850" noProof="0"/>
          </a:p>
        </p:txBody>
      </p:sp>
      <p:sp>
        <p:nvSpPr>
          <p:cNvPr id="23" name="Shape 20"/>
          <p:cNvSpPr/>
          <p:nvPr/>
        </p:nvSpPr>
        <p:spPr>
          <a:xfrm>
            <a:off x="1755648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F5B800"/>
          </a:solidFill>
          <a:ln w="12700">
            <a:solidFill>
              <a:srgbClr val="F5B800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4" name="Text 21"/>
          <p:cNvSpPr/>
          <p:nvPr/>
        </p:nvSpPr>
        <p:spPr>
          <a:xfrm>
            <a:off x="1755648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s-SV" sz="1100" noProof="0"/>
          </a:p>
        </p:txBody>
      </p:sp>
      <p:sp>
        <p:nvSpPr>
          <p:cNvPr id="25" name="Text 22"/>
          <p:cNvSpPr/>
          <p:nvPr/>
        </p:nvSpPr>
        <p:spPr>
          <a:xfrm>
            <a:off x="1755648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Gobernanza</a:t>
            </a:r>
            <a:endParaRPr lang="es-SV" sz="850" noProof="0"/>
          </a:p>
        </p:txBody>
      </p:sp>
      <p:sp>
        <p:nvSpPr>
          <p:cNvPr id="26" name="Shape 23"/>
          <p:cNvSpPr/>
          <p:nvPr/>
        </p:nvSpPr>
        <p:spPr>
          <a:xfrm>
            <a:off x="3191256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EBF1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7" name="Text 24"/>
          <p:cNvSpPr/>
          <p:nvPr/>
        </p:nvSpPr>
        <p:spPr>
          <a:xfrm>
            <a:off x="3191256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s-SV" sz="1100" noProof="0"/>
          </a:p>
        </p:txBody>
      </p:sp>
      <p:sp>
        <p:nvSpPr>
          <p:cNvPr id="28" name="Text 25"/>
          <p:cNvSpPr/>
          <p:nvPr/>
        </p:nvSpPr>
        <p:spPr>
          <a:xfrm>
            <a:off x="3191256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s-SV" sz="850" noProof="0"/>
          </a:p>
        </p:txBody>
      </p:sp>
      <p:sp>
        <p:nvSpPr>
          <p:cNvPr id="29" name="Shape 26"/>
          <p:cNvSpPr/>
          <p:nvPr/>
        </p:nvSpPr>
        <p:spPr>
          <a:xfrm>
            <a:off x="4626864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EBF1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0" name="Text 27"/>
          <p:cNvSpPr/>
          <p:nvPr/>
        </p:nvSpPr>
        <p:spPr>
          <a:xfrm>
            <a:off x="4626864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s-SV" sz="1100" noProof="0"/>
          </a:p>
        </p:txBody>
      </p:sp>
      <p:sp>
        <p:nvSpPr>
          <p:cNvPr id="31" name="Text 28"/>
          <p:cNvSpPr/>
          <p:nvPr/>
        </p:nvSpPr>
        <p:spPr>
          <a:xfrm>
            <a:off x="4626864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</a:t>
            </a:r>
            <a:r>
              <a:rPr lang="es-SV" sz="850" noProof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s-SV" sz="850" noProof="0"/>
          </a:p>
        </p:txBody>
      </p:sp>
      <p:sp>
        <p:nvSpPr>
          <p:cNvPr id="32" name="Shape 29"/>
          <p:cNvSpPr/>
          <p:nvPr/>
        </p:nvSpPr>
        <p:spPr>
          <a:xfrm>
            <a:off x="6062472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EBF1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3" name="Text 30"/>
          <p:cNvSpPr/>
          <p:nvPr/>
        </p:nvSpPr>
        <p:spPr>
          <a:xfrm>
            <a:off x="6062472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s-SV" sz="1100" noProof="0"/>
          </a:p>
        </p:txBody>
      </p:sp>
      <p:sp>
        <p:nvSpPr>
          <p:cNvPr id="34" name="Text 31"/>
          <p:cNvSpPr/>
          <p:nvPr/>
        </p:nvSpPr>
        <p:spPr>
          <a:xfrm>
            <a:off x="6062472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s-SV" sz="850" noProof="0"/>
          </a:p>
        </p:txBody>
      </p:sp>
      <p:sp>
        <p:nvSpPr>
          <p:cNvPr id="35" name="Shape 32"/>
          <p:cNvSpPr/>
          <p:nvPr/>
        </p:nvSpPr>
        <p:spPr>
          <a:xfrm>
            <a:off x="7498080" y="2560320"/>
            <a:ext cx="1344168" cy="960120"/>
          </a:xfrm>
          <a:prstGeom prst="roundRect">
            <a:avLst>
              <a:gd name="adj" fmla="val 7619"/>
            </a:avLst>
          </a:prstGeom>
          <a:solidFill>
            <a:srgbClr val="EBF1F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6" name="Text 33"/>
          <p:cNvSpPr/>
          <p:nvPr/>
        </p:nvSpPr>
        <p:spPr>
          <a:xfrm>
            <a:off x="7498080" y="2560320"/>
            <a:ext cx="1344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100" b="1" noProof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s-SV" sz="1100" noProof="0"/>
          </a:p>
        </p:txBody>
      </p:sp>
      <p:sp>
        <p:nvSpPr>
          <p:cNvPr id="37" name="Text 34"/>
          <p:cNvSpPr/>
          <p:nvPr/>
        </p:nvSpPr>
        <p:spPr>
          <a:xfrm>
            <a:off x="7498080" y="2834640"/>
            <a:ext cx="134416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Consolidación</a:t>
            </a:r>
            <a:endParaRPr lang="es-SV" sz="850" noProof="0"/>
          </a:p>
          <a:p>
            <a:pPr marL="0" indent="0" algn="ctr">
              <a:buNone/>
            </a:pPr>
            <a:r>
              <a:rPr lang="es-SV" sz="8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</a:t>
            </a:r>
            <a:endParaRPr lang="es-SV" sz="850" noProof="0"/>
          </a:p>
        </p:txBody>
      </p:sp>
      <p:sp>
        <p:nvSpPr>
          <p:cNvPr id="38" name="Shape 35"/>
          <p:cNvSpPr/>
          <p:nvPr/>
        </p:nvSpPr>
        <p:spPr>
          <a:xfrm>
            <a:off x="320040" y="370332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EBF1FA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9" name="Text 36"/>
          <p:cNvSpPr/>
          <p:nvPr/>
        </p:nvSpPr>
        <p:spPr>
          <a:xfrm>
            <a:off x="320040" y="370332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2026–2030  ·  </a:t>
            </a:r>
            <a:r>
              <a:rPr lang="es-SV" sz="10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OE7</a:t>
            </a:r>
            <a:r>
              <a:rPr lang="es-SV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Cultura de gestión del cambio, colaborativa y ágil   |   </a:t>
            </a:r>
            <a:r>
              <a:rPr lang="es-SV" sz="10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OE8</a:t>
            </a:r>
            <a:r>
              <a:rPr lang="es-SV" sz="1050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Implementar la hoja de ruta de TD para cerrar brechas del índice de madurez digital</a:t>
            </a:r>
            <a:endParaRPr lang="es-SV" sz="1050" noProof="0"/>
          </a:p>
        </p:txBody>
      </p:sp>
      <p:pic>
        <p:nvPicPr>
          <p:cNvPr id="40" name="Imagen 39" descr="Aranceles comunes UEES - Universidad Evangélica de El Salvador">
            <a:extLst>
              <a:ext uri="{FF2B5EF4-FFF2-40B4-BE49-F238E27FC236}">
                <a16:creationId xmlns:a16="http://schemas.microsoft.com/office/drawing/2014/main" id="{0FC7565F-0441-7281-796B-94A69D042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08" y="43190"/>
            <a:ext cx="679464" cy="619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2"/>
          <p:cNvSpPr txBox="1"/>
          <p:nvPr/>
        </p:nvSpPr>
        <p:spPr>
          <a:xfrm>
            <a:off x="320040" y="0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8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Marco de referencia — Los cinco pilares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786384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El Índice de Madurez Digital (IMD) se mide sobre cinco pilares. Cada pilar cuenta con un objetivo, resultados clave y un liderazgo institucional asignado.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24128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024128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QUÉ MIDE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4848" y="1024128"/>
            <a:ext cx="18288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LIDERAZGO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207008"/>
            <a:ext cx="8503920" cy="53035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1" name="Oval 10"/>
          <p:cNvSpPr/>
          <p:nvPr/>
        </p:nvSpPr>
        <p:spPr>
          <a:xfrm>
            <a:off x="457200" y="134416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34416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SV" sz="11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20700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Gobernanza y Liderazgo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20700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Dirección estratégica, políticas y estructuras que orientan la transformación digital.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20700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Líder: </a:t>
            </a:r>
            <a:r>
              <a:rPr lang="es-SV" sz="800" b="1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Director de </a:t>
            </a: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Transformación Digital</a:t>
            </a:r>
          </a:p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Colíder: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Director de Calidad Institucional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1801368"/>
            <a:ext cx="8503920" cy="53035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7" name="Oval 16"/>
          <p:cNvSpPr/>
          <p:nvPr/>
        </p:nvSpPr>
        <p:spPr>
          <a:xfrm>
            <a:off x="457200" y="193852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8" name="TextBox 17"/>
          <p:cNvSpPr txBox="1"/>
          <p:nvPr/>
        </p:nvSpPr>
        <p:spPr>
          <a:xfrm>
            <a:off x="457200" y="19385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SV" sz="11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80136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Personal y Cultura Digital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80136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Cultura de innovación, adopción tecnológica y desarrollo de competencias digitales.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84848" y="180136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Líder: </a:t>
            </a: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Director del Centro de Enseñanza y Aprendizaje</a:t>
            </a:r>
          </a:p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Colíder: Jefa de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Talento Humano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2395728"/>
            <a:ext cx="8503920" cy="53035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3" name="Oval 22"/>
          <p:cNvSpPr/>
          <p:nvPr/>
        </p:nvSpPr>
        <p:spPr>
          <a:xfrm>
            <a:off x="457200" y="253288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4" name="TextBox 23"/>
          <p:cNvSpPr txBox="1"/>
          <p:nvPr/>
        </p:nvSpPr>
        <p:spPr>
          <a:xfrm>
            <a:off x="457200" y="253288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SV" sz="11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39572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Capacidad Instalada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39572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Infraestructura, procesos y gestión de datos que sustentan la operación institucional.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39572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Líder: </a:t>
            </a: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Director de Calidad Institucional</a:t>
            </a:r>
          </a:p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Colíder: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Subgerente de TI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" y="2990088"/>
            <a:ext cx="8503920" cy="53035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9" name="Oval 28"/>
          <p:cNvSpPr/>
          <p:nvPr/>
        </p:nvSpPr>
        <p:spPr>
          <a:xfrm>
            <a:off x="457200" y="312724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30" name="TextBox 29"/>
          <p:cNvSpPr txBox="1"/>
          <p:nvPr/>
        </p:nvSpPr>
        <p:spPr>
          <a:xfrm>
            <a:off x="457200" y="312724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SV" sz="11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299008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Innovación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299008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Generación, pilotaje y escalamiento de soluciones digitales innovadoras.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299008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Líder: </a:t>
            </a: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Vicerrectoría de Innovación y Tecnología Educativa</a:t>
            </a:r>
          </a:p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Colíder: </a:t>
            </a:r>
            <a:r>
              <a:rPr lang="es-SV" sz="80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Coordinador de la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Oficina de Transferencia </a:t>
            </a:r>
            <a:r>
              <a:rPr lang="es-SV" sz="80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Tecnológica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3584448"/>
            <a:ext cx="8503920" cy="530352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5" name="Oval 34"/>
          <p:cNvSpPr/>
          <p:nvPr/>
        </p:nvSpPr>
        <p:spPr>
          <a:xfrm>
            <a:off x="457200" y="372160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36" name="TextBox 35"/>
          <p:cNvSpPr txBox="1"/>
          <p:nvPr/>
        </p:nvSpPr>
        <p:spPr>
          <a:xfrm>
            <a:off x="457200" y="372160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es-SV" sz="11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3584448"/>
            <a:ext cx="18288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Tecnología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3584448"/>
            <a:ext cx="388620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Uso estratégico, satisfacción, interoperabilidad y evolución de las herramientas.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3584448"/>
            <a:ext cx="201168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Líder: </a:t>
            </a: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Subgerencia de TI</a:t>
            </a:r>
          </a:p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Colíder: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Directora de Tecnología Educativa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" y="4315968"/>
            <a:ext cx="8503920" cy="457200"/>
          </a:xfrm>
          <a:prstGeom prst="roundRect">
            <a:avLst>
              <a:gd name="adj" fmla="val 7000"/>
            </a:avLst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41" name="TextBox 40"/>
          <p:cNvSpPr txBox="1"/>
          <p:nvPr/>
        </p:nvSpPr>
        <p:spPr>
          <a:xfrm>
            <a:off x="484632" y="4315968"/>
            <a:ext cx="8174736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85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IMD — Línea base 2025: 2.49   ·   Meta 2026: 2.59   ·   Meta 2030: 3.00   |   Fase 2026: Consolidación de Gobernanza   |   PEI 2026–2030 · OE7 y OE8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3"/>
          <p:cNvSpPr txBox="1"/>
          <p:nvPr/>
        </p:nvSpPr>
        <p:spPr>
          <a:xfrm>
            <a:off x="320040" y="0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8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Pilar 1 — Gobernanza y Liderazgo </a:t>
            </a:r>
          </a:p>
          <a:p>
            <a:pPr algn="l">
              <a:lnSpc>
                <a:spcPct val="100000"/>
              </a:lnSpc>
            </a:pPr>
            <a:r>
              <a:rPr lang="es-MX" sz="105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Líder: Director de Transformación Digital, Colíder: Director de Calidad Institucional</a:t>
            </a:r>
            <a:endParaRPr lang="es-SV" sz="1800" b="1" i="0" noProof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265176" y="1161033"/>
            <a:ext cx="8503920" cy="75488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7" name="TextBox 7"/>
          <p:cNvSpPr txBox="1"/>
          <p:nvPr/>
        </p:nvSpPr>
        <p:spPr>
          <a:xfrm>
            <a:off x="429768" y="1252474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DEL PILAR</a:t>
            </a:r>
          </a:p>
        </p:txBody>
      </p:sp>
      <p:sp>
        <p:nvSpPr>
          <p:cNvPr id="8" name="Shape 8"/>
          <p:cNvSpPr/>
          <p:nvPr/>
        </p:nvSpPr>
        <p:spPr>
          <a:xfrm>
            <a:off x="8129016" y="1234186"/>
            <a:ext cx="475488" cy="192024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9" name="TextBox 9"/>
          <p:cNvSpPr txBox="1"/>
          <p:nvPr/>
        </p:nvSpPr>
        <p:spPr>
          <a:xfrm>
            <a:off x="8129016" y="1234186"/>
            <a:ext cx="475488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O1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9768" y="1417066"/>
            <a:ext cx="7589520" cy="4343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s-MX" sz="105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Consolidar una gobernanza digital institucional efectiva, ágil y sostenible, que oriente la transformación digital mediante políticas, estructuras y decisiones basadas en datos, en coherencia con el PEI 2026–2030.</a:t>
            </a:r>
            <a:endParaRPr lang="es-SV" sz="1050" b="1" i="0" noProof="0">
              <a:solidFill>
                <a:srgbClr val="1A3A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20040" y="1991720"/>
            <a:ext cx="45720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MARCO NORMATIVO DIGITAL</a:t>
            </a:r>
          </a:p>
        </p:txBody>
      </p:sp>
      <p:sp>
        <p:nvSpPr>
          <p:cNvPr id="12" name="Shape 12"/>
          <p:cNvSpPr/>
          <p:nvPr/>
        </p:nvSpPr>
        <p:spPr>
          <a:xfrm>
            <a:off x="320040" y="2203959"/>
            <a:ext cx="2724912" cy="23134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13" name="Shape 13"/>
          <p:cNvSpPr/>
          <p:nvPr/>
        </p:nvSpPr>
        <p:spPr>
          <a:xfrm>
            <a:off x="484632" y="2304543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14" name="TextBox 14"/>
          <p:cNvSpPr txBox="1"/>
          <p:nvPr/>
        </p:nvSpPr>
        <p:spPr>
          <a:xfrm>
            <a:off x="484632" y="2304543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T2 · Abr–Jun 2026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632" y="2770887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2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Política de Gobernanza Digital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3504" y="3113787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Norma sombrilla: de ella se derivan las normativas específicas.</a:t>
            </a:r>
          </a:p>
        </p:txBody>
      </p:sp>
      <p:sp>
        <p:nvSpPr>
          <p:cNvPr id="17" name="Shape 17"/>
          <p:cNvSpPr/>
          <p:nvPr/>
        </p:nvSpPr>
        <p:spPr>
          <a:xfrm>
            <a:off x="484632" y="3612135"/>
            <a:ext cx="1578641" cy="184515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18" name="TextBox 18"/>
          <p:cNvSpPr txBox="1"/>
          <p:nvPr/>
        </p:nvSpPr>
        <p:spPr>
          <a:xfrm>
            <a:off x="417353" y="3566446"/>
            <a:ext cx="1645920" cy="26387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1" i="0" noProof="0">
                <a:solidFill>
                  <a:srgbClr val="8A6D00"/>
                </a:solidFill>
                <a:latin typeface="Calibri"/>
                <a:ea typeface="Calibri"/>
                <a:cs typeface="Calibri"/>
              </a:rPr>
              <a:t>Aprobada por DE en julio</a:t>
            </a:r>
          </a:p>
        </p:txBody>
      </p:sp>
      <p:sp>
        <p:nvSpPr>
          <p:cNvPr id="19" name="Shape 19"/>
          <p:cNvSpPr/>
          <p:nvPr/>
        </p:nvSpPr>
        <p:spPr>
          <a:xfrm>
            <a:off x="3209544" y="2203959"/>
            <a:ext cx="2724912" cy="23134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20" name="Shape 20"/>
          <p:cNvSpPr/>
          <p:nvPr/>
        </p:nvSpPr>
        <p:spPr>
          <a:xfrm>
            <a:off x="3374136" y="2304543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21" name="TextBox 21"/>
          <p:cNvSpPr txBox="1"/>
          <p:nvPr/>
        </p:nvSpPr>
        <p:spPr>
          <a:xfrm>
            <a:off x="3374136" y="2304543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T3 · Jul–Sep 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74136" y="2770887"/>
            <a:ext cx="2395728" cy="3886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2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Normativa de uso de la Inteligencia Artificial Generativa</a:t>
            </a:r>
          </a:p>
        </p:txBody>
      </p:sp>
      <p:sp>
        <p:nvSpPr>
          <p:cNvPr id="23" name="Shape 23"/>
          <p:cNvSpPr/>
          <p:nvPr/>
        </p:nvSpPr>
        <p:spPr>
          <a:xfrm>
            <a:off x="3374136" y="3328820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24" name="TextBox 24"/>
          <p:cNvSpPr txBox="1"/>
          <p:nvPr/>
        </p:nvSpPr>
        <p:spPr>
          <a:xfrm>
            <a:off x="3374135" y="3269086"/>
            <a:ext cx="1026879" cy="178457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En elaboración</a:t>
            </a:r>
          </a:p>
        </p:txBody>
      </p:sp>
      <p:sp>
        <p:nvSpPr>
          <p:cNvPr id="26" name="Shape 26"/>
          <p:cNvSpPr/>
          <p:nvPr/>
        </p:nvSpPr>
        <p:spPr>
          <a:xfrm>
            <a:off x="3455912" y="3891027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28" name="Shape 28"/>
          <p:cNvSpPr/>
          <p:nvPr/>
        </p:nvSpPr>
        <p:spPr>
          <a:xfrm>
            <a:off x="6099048" y="2203959"/>
            <a:ext cx="2724912" cy="231343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29" name="Shape 29"/>
          <p:cNvSpPr/>
          <p:nvPr/>
        </p:nvSpPr>
        <p:spPr>
          <a:xfrm>
            <a:off x="6263640" y="2304543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30" name="TextBox 30"/>
          <p:cNvSpPr txBox="1"/>
          <p:nvPr/>
        </p:nvSpPr>
        <p:spPr>
          <a:xfrm>
            <a:off x="6263640" y="2304543"/>
            <a:ext cx="12344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T4 · Oct–Dic 2026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63640" y="2770887"/>
            <a:ext cx="239572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2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Normativa de Ciberseguridad</a:t>
            </a:r>
          </a:p>
        </p:txBody>
      </p:sp>
      <p:sp>
        <p:nvSpPr>
          <p:cNvPr id="32" name="Shape 32"/>
          <p:cNvSpPr/>
          <p:nvPr/>
        </p:nvSpPr>
        <p:spPr>
          <a:xfrm>
            <a:off x="6263640" y="3026919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33" name="TextBox 33"/>
          <p:cNvSpPr txBox="1"/>
          <p:nvPr/>
        </p:nvSpPr>
        <p:spPr>
          <a:xfrm>
            <a:off x="6263640" y="2985771"/>
            <a:ext cx="749808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Por definir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63640" y="3250947"/>
            <a:ext cx="2395728" cy="4297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200" b="1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Política </a:t>
            </a:r>
            <a:r>
              <a:rPr lang="es-SV" sz="12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de Tecnología de la Información</a:t>
            </a:r>
          </a:p>
        </p:txBody>
      </p:sp>
      <p:sp>
        <p:nvSpPr>
          <p:cNvPr id="35" name="Shape 35"/>
          <p:cNvSpPr/>
          <p:nvPr/>
        </p:nvSpPr>
        <p:spPr>
          <a:xfrm>
            <a:off x="6263640" y="3822447"/>
            <a:ext cx="749808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3200" noProof="0"/>
          </a:p>
        </p:txBody>
      </p:sp>
      <p:sp>
        <p:nvSpPr>
          <p:cNvPr id="36" name="TextBox 36"/>
          <p:cNvSpPr txBox="1"/>
          <p:nvPr/>
        </p:nvSpPr>
        <p:spPr>
          <a:xfrm>
            <a:off x="6373368" y="3731948"/>
            <a:ext cx="2395728" cy="57544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Por derogar hasta finalizar normativos  por actualizar, los aspectos institucionales ya fueron agregados a la Política de Gobernanza Digital.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3"/>
          <p:cNvSpPr txBox="1"/>
          <p:nvPr/>
        </p:nvSpPr>
        <p:spPr>
          <a:xfrm>
            <a:off x="356616" y="86868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8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Pilar 2 — Personal y Cultura Digital</a:t>
            </a:r>
          </a:p>
          <a:p>
            <a:pPr algn="l">
              <a:lnSpc>
                <a:spcPct val="100000"/>
              </a:lnSpc>
            </a:pPr>
            <a:r>
              <a:rPr lang="es-MX" sz="105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Líder: Director del Centro de Enseñanza y Aprendizaje, Colíder: Jefa de Talento Humano</a:t>
            </a:r>
          </a:p>
          <a:p>
            <a:pPr algn="l">
              <a:lnSpc>
                <a:spcPct val="100000"/>
              </a:lnSpc>
            </a:pPr>
            <a:endParaRPr lang="es-SV" sz="1800" b="1" i="0" noProof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29184" y="827532"/>
            <a:ext cx="8503920" cy="65836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7" name="TextBox 7"/>
          <p:cNvSpPr txBox="1"/>
          <p:nvPr/>
        </p:nvSpPr>
        <p:spPr>
          <a:xfrm>
            <a:off x="493776" y="918972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OBJETIVO DEL PILAR</a:t>
            </a:r>
          </a:p>
        </p:txBody>
      </p:sp>
      <p:sp>
        <p:nvSpPr>
          <p:cNvPr id="8" name="Shape 8"/>
          <p:cNvSpPr/>
          <p:nvPr/>
        </p:nvSpPr>
        <p:spPr>
          <a:xfrm>
            <a:off x="8183880" y="1127760"/>
            <a:ext cx="475488" cy="192024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9" name="TextBox 9"/>
          <p:cNvSpPr txBox="1"/>
          <p:nvPr/>
        </p:nvSpPr>
        <p:spPr>
          <a:xfrm>
            <a:off x="8183880" y="1127760"/>
            <a:ext cx="475488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O2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3776" y="1083564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s-MX" sz="95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Fortalecer la cultura digital institucional, desarrollando en docentes, personal administrativo y estudiantes las competencias, actitudes y prácticas que sostienen la innovación, la adopción tecnológica y el aprendizaje continuo frente al cambio digital.</a:t>
            </a:r>
            <a:endParaRPr lang="es-SV" sz="950">
              <a:solidFill>
                <a:srgbClr val="1E2D4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20040" y="1633728"/>
            <a:ext cx="8503920" cy="3291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2" name="Shape 12"/>
          <p:cNvSpPr/>
          <p:nvPr/>
        </p:nvSpPr>
        <p:spPr>
          <a:xfrm>
            <a:off x="502920" y="1697736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3" name="TextBox 13"/>
          <p:cNvSpPr txBox="1"/>
          <p:nvPr/>
        </p:nvSpPr>
        <p:spPr>
          <a:xfrm>
            <a:off x="493776" y="169773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Acción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00200" y="1633728"/>
            <a:ext cx="70408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9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Diseño del instrumento y medición de competencias digitales del personal administrativo y académico.</a:t>
            </a:r>
          </a:p>
        </p:txBody>
      </p:sp>
      <p:sp>
        <p:nvSpPr>
          <p:cNvPr id="15" name="Shape 15"/>
          <p:cNvSpPr/>
          <p:nvPr/>
        </p:nvSpPr>
        <p:spPr>
          <a:xfrm>
            <a:off x="320040" y="2075688"/>
            <a:ext cx="2112264" cy="17343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6" name="Shape 16"/>
          <p:cNvSpPr/>
          <p:nvPr/>
        </p:nvSpPr>
        <p:spPr>
          <a:xfrm>
            <a:off x="475488" y="220522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7" name="TextBox 17"/>
          <p:cNvSpPr txBox="1"/>
          <p:nvPr/>
        </p:nvSpPr>
        <p:spPr>
          <a:xfrm>
            <a:off x="475488" y="2205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5488" y="2654808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1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Diseño del instrumento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4632" y="2887980"/>
            <a:ext cx="18013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Marco de competencias y construcción del cuestionario.</a:t>
            </a:r>
          </a:p>
        </p:txBody>
      </p:sp>
      <p:sp>
        <p:nvSpPr>
          <p:cNvPr id="20" name="Shape 20"/>
          <p:cNvSpPr/>
          <p:nvPr/>
        </p:nvSpPr>
        <p:spPr>
          <a:xfrm>
            <a:off x="475488" y="3230880"/>
            <a:ext cx="914400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2800" noProof="0"/>
          </a:p>
        </p:txBody>
      </p:sp>
      <p:sp>
        <p:nvSpPr>
          <p:cNvPr id="21" name="TextBox 21"/>
          <p:cNvSpPr txBox="1"/>
          <p:nvPr/>
        </p:nvSpPr>
        <p:spPr>
          <a:xfrm>
            <a:off x="557784" y="3429762"/>
            <a:ext cx="1514856" cy="3116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Estado: programado para agosto</a:t>
            </a:r>
          </a:p>
        </p:txBody>
      </p:sp>
      <p:sp>
        <p:nvSpPr>
          <p:cNvPr id="22" name="Shape 22"/>
          <p:cNvSpPr/>
          <p:nvPr/>
        </p:nvSpPr>
        <p:spPr>
          <a:xfrm>
            <a:off x="2450592" y="2075688"/>
            <a:ext cx="2112264" cy="17343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3" name="Shape 23"/>
          <p:cNvSpPr/>
          <p:nvPr/>
        </p:nvSpPr>
        <p:spPr>
          <a:xfrm>
            <a:off x="2606040" y="220522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4" name="TextBox 24"/>
          <p:cNvSpPr txBox="1"/>
          <p:nvPr/>
        </p:nvSpPr>
        <p:spPr>
          <a:xfrm>
            <a:off x="2606040" y="2205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606040" y="2654808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1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Validación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38044" y="2903982"/>
            <a:ext cx="18013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Revisión técnica y prueba piloto previa al despliegue.</a:t>
            </a:r>
          </a:p>
        </p:txBody>
      </p:sp>
      <p:sp>
        <p:nvSpPr>
          <p:cNvPr id="27" name="Shape 27"/>
          <p:cNvSpPr/>
          <p:nvPr/>
        </p:nvSpPr>
        <p:spPr>
          <a:xfrm>
            <a:off x="2606040" y="3230880"/>
            <a:ext cx="914400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2800" noProof="0"/>
          </a:p>
        </p:txBody>
      </p:sp>
      <p:sp>
        <p:nvSpPr>
          <p:cNvPr id="28" name="TextBox 28"/>
          <p:cNvSpPr txBox="1"/>
          <p:nvPr/>
        </p:nvSpPr>
        <p:spPr>
          <a:xfrm>
            <a:off x="2688336" y="3429762"/>
            <a:ext cx="1514856" cy="3116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Estado: programado para agosto</a:t>
            </a:r>
          </a:p>
        </p:txBody>
      </p:sp>
      <p:sp>
        <p:nvSpPr>
          <p:cNvPr id="29" name="Shape 29"/>
          <p:cNvSpPr/>
          <p:nvPr/>
        </p:nvSpPr>
        <p:spPr>
          <a:xfrm>
            <a:off x="4581144" y="2075688"/>
            <a:ext cx="2112264" cy="17343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0" name="Shape 30"/>
          <p:cNvSpPr/>
          <p:nvPr/>
        </p:nvSpPr>
        <p:spPr>
          <a:xfrm>
            <a:off x="4736592" y="220522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1" name="TextBox 31"/>
          <p:cNvSpPr txBox="1"/>
          <p:nvPr/>
        </p:nvSpPr>
        <p:spPr>
          <a:xfrm>
            <a:off x="4736592" y="2205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736592" y="2654808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1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Aplicación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768596" y="2903982"/>
            <a:ext cx="18013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Levantamiento en personal administrativo y académico.</a:t>
            </a:r>
          </a:p>
        </p:txBody>
      </p:sp>
      <p:sp>
        <p:nvSpPr>
          <p:cNvPr id="34" name="Shape 34"/>
          <p:cNvSpPr/>
          <p:nvPr/>
        </p:nvSpPr>
        <p:spPr>
          <a:xfrm>
            <a:off x="4736592" y="3230880"/>
            <a:ext cx="914400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2800" noProof="0"/>
          </a:p>
        </p:txBody>
      </p:sp>
      <p:sp>
        <p:nvSpPr>
          <p:cNvPr id="35" name="TextBox 35"/>
          <p:cNvSpPr txBox="1"/>
          <p:nvPr/>
        </p:nvSpPr>
        <p:spPr>
          <a:xfrm>
            <a:off x="4818888" y="3429762"/>
            <a:ext cx="1514856" cy="3116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Estado: programado para septiembre</a:t>
            </a:r>
          </a:p>
        </p:txBody>
      </p:sp>
      <p:sp>
        <p:nvSpPr>
          <p:cNvPr id="36" name="Shape 36"/>
          <p:cNvSpPr/>
          <p:nvPr/>
        </p:nvSpPr>
        <p:spPr>
          <a:xfrm>
            <a:off x="6711696" y="2091309"/>
            <a:ext cx="2112264" cy="1734312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7" name="Shape 37"/>
          <p:cNvSpPr/>
          <p:nvPr/>
        </p:nvSpPr>
        <p:spPr>
          <a:xfrm>
            <a:off x="6867144" y="2205228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8" name="TextBox 38"/>
          <p:cNvSpPr txBox="1"/>
          <p:nvPr/>
        </p:nvSpPr>
        <p:spPr>
          <a:xfrm>
            <a:off x="6867144" y="2205228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67144" y="2654808"/>
            <a:ext cx="1801368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10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Línea base y análisis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99148" y="2903982"/>
            <a:ext cx="180136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05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Resultados, brechas y plan de desarrollo de competencias.</a:t>
            </a:r>
          </a:p>
        </p:txBody>
      </p:sp>
      <p:sp>
        <p:nvSpPr>
          <p:cNvPr id="41" name="Shape 41"/>
          <p:cNvSpPr/>
          <p:nvPr/>
        </p:nvSpPr>
        <p:spPr>
          <a:xfrm>
            <a:off x="6867144" y="3230880"/>
            <a:ext cx="914400" cy="173736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sz="2800" noProof="0"/>
          </a:p>
        </p:txBody>
      </p:sp>
      <p:sp>
        <p:nvSpPr>
          <p:cNvPr id="42" name="TextBox 42"/>
          <p:cNvSpPr txBox="1"/>
          <p:nvPr/>
        </p:nvSpPr>
        <p:spPr>
          <a:xfrm>
            <a:off x="6949440" y="3429762"/>
            <a:ext cx="1514856" cy="3116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10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Estado: programado para septiembre</a:t>
            </a:r>
          </a:p>
        </p:txBody>
      </p:sp>
      <p:sp>
        <p:nvSpPr>
          <p:cNvPr id="43" name="Shape 43"/>
          <p:cNvSpPr/>
          <p:nvPr/>
        </p:nvSpPr>
        <p:spPr>
          <a:xfrm>
            <a:off x="320040" y="3932682"/>
            <a:ext cx="8503920" cy="93268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44" name="TextBox 44"/>
          <p:cNvSpPr txBox="1"/>
          <p:nvPr/>
        </p:nvSpPr>
        <p:spPr>
          <a:xfrm>
            <a:off x="484632" y="4024122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ALCANCE DE LA MEDICIÓN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84632" y="4207002"/>
            <a:ext cx="818388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Personal administrativo:  </a:t>
            </a:r>
            <a:r>
              <a:rPr lang="es-SV" sz="85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unidades de gestión y apoyo.</a:t>
            </a:r>
          </a:p>
          <a:p>
            <a:pPr algn="l">
              <a:spcBef>
                <a:spcPts val="400"/>
              </a:spcBef>
            </a:pPr>
            <a:r>
              <a:rPr lang="es-SV" sz="8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Personal académico:  </a:t>
            </a:r>
            <a:r>
              <a:rPr lang="es-SV" sz="85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seis facultades y Escuela de Posgrados.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5488" y="4495038"/>
            <a:ext cx="8138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Vínculo estratégico:  </a:t>
            </a:r>
            <a:r>
              <a:rPr lang="es-SV" sz="8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la línea base de competencias habilita el plan de formación y sustenta los resultados clave del pilar.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3"/>
          <p:cNvSpPr txBox="1"/>
          <p:nvPr/>
        </p:nvSpPr>
        <p:spPr>
          <a:xfrm>
            <a:off x="411480" y="97651"/>
            <a:ext cx="74980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18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Pilar 4 — Innovación</a:t>
            </a:r>
          </a:p>
          <a:p>
            <a:pPr algn="l">
              <a:lnSpc>
                <a:spcPct val="100000"/>
              </a:lnSpc>
            </a:pPr>
            <a:r>
              <a:rPr lang="es-MX" sz="105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Líder: Vicerrectoría de Innovación y Tecnología Educativa, Colíder: Coordinador de la Oficina de Transferencia Tecnológica</a:t>
            </a:r>
          </a:p>
          <a:p>
            <a:pPr algn="l">
              <a:lnSpc>
                <a:spcPct val="100000"/>
              </a:lnSpc>
            </a:pPr>
            <a:endParaRPr lang="es-SV" sz="1800" b="1" i="0" noProof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Shape 4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Shape 6"/>
          <p:cNvSpPr/>
          <p:nvPr/>
        </p:nvSpPr>
        <p:spPr>
          <a:xfrm>
            <a:off x="320040" y="981571"/>
            <a:ext cx="8503920" cy="65836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7" name="TextBox 7"/>
          <p:cNvSpPr txBox="1"/>
          <p:nvPr/>
        </p:nvSpPr>
        <p:spPr>
          <a:xfrm>
            <a:off x="484632" y="1073011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75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lang="es-SV" sz="7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DEL PILAR</a:t>
            </a:r>
          </a:p>
        </p:txBody>
      </p:sp>
      <p:sp>
        <p:nvSpPr>
          <p:cNvPr id="8" name="Shape 8"/>
          <p:cNvSpPr/>
          <p:nvPr/>
        </p:nvSpPr>
        <p:spPr>
          <a:xfrm>
            <a:off x="8183880" y="1054723"/>
            <a:ext cx="475488" cy="192024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9" name="TextBox 9"/>
          <p:cNvSpPr txBox="1"/>
          <p:nvPr/>
        </p:nvSpPr>
        <p:spPr>
          <a:xfrm>
            <a:off x="8183880" y="1054723"/>
            <a:ext cx="475488" cy="1920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5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O4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4632" y="1237603"/>
            <a:ext cx="7589520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s-MX" sz="95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Institucionalizar la innovación digital, fortaleciendo la capacidad de generar, pilotear y escalar soluciones digitales innovadoras, e incorporarlas de forma sostenida en el modelo educativo y en la experiencia universitaria.</a:t>
            </a:r>
            <a:endParaRPr lang="es-SV" sz="950" b="1" i="0" noProof="0">
              <a:solidFill>
                <a:srgbClr val="1A3A6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320040" y="1868539"/>
            <a:ext cx="4160520" cy="12435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2" name="Shape 12"/>
          <p:cNvSpPr/>
          <p:nvPr/>
        </p:nvSpPr>
        <p:spPr>
          <a:xfrm>
            <a:off x="484632" y="1996555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3" name="TextBox 13"/>
          <p:cNvSpPr txBox="1"/>
          <p:nvPr/>
        </p:nvSpPr>
        <p:spPr>
          <a:xfrm>
            <a:off x="484632" y="19965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2104" y="2014843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95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Proyectos de tecnología inmersiva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632" y="2270875"/>
            <a:ext cx="3831336" cy="5303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 proyectos de metaversos, 16 de </a:t>
            </a: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Realidad Virtual y Realidad Aumentada </a:t>
            </a:r>
            <a: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y 4 de hologramas.</a:t>
            </a:r>
            <a:b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</a:br>
            <a:r>
              <a:rPr lang="es-SV" sz="8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Carreras beneficiadas: </a:t>
            </a: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Doctorado en Medicina, Doctorado en Cirugía Dental, Licenciatura en Nutrición, Licenciatura en Ciencias Jurídicas, Licenciatura en Psicología, Técnico en Enfermería.</a:t>
            </a:r>
            <a:endParaRPr lang="es-SV" sz="800" b="0" i="0" noProof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84632" y="2837803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7" name="TextBox 17"/>
          <p:cNvSpPr txBox="1"/>
          <p:nvPr/>
        </p:nvSpPr>
        <p:spPr>
          <a:xfrm>
            <a:off x="484632" y="2837803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Estado:  En implementación</a:t>
            </a:r>
          </a:p>
        </p:txBody>
      </p:sp>
      <p:sp>
        <p:nvSpPr>
          <p:cNvPr id="18" name="Shape 18"/>
          <p:cNvSpPr/>
          <p:nvPr/>
        </p:nvSpPr>
        <p:spPr>
          <a:xfrm>
            <a:off x="1901952" y="2837803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9" name="TextBox 19"/>
          <p:cNvSpPr txBox="1"/>
          <p:nvPr/>
        </p:nvSpPr>
        <p:spPr>
          <a:xfrm>
            <a:off x="1901952" y="2837803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Responsable:  Facultades + DTE</a:t>
            </a:r>
          </a:p>
        </p:txBody>
      </p:sp>
      <p:sp>
        <p:nvSpPr>
          <p:cNvPr id="20" name="Shape 20"/>
          <p:cNvSpPr/>
          <p:nvPr/>
        </p:nvSpPr>
        <p:spPr>
          <a:xfrm>
            <a:off x="4663440" y="1868539"/>
            <a:ext cx="4160520" cy="124358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1" name="Shape 21"/>
          <p:cNvSpPr/>
          <p:nvPr/>
        </p:nvSpPr>
        <p:spPr>
          <a:xfrm>
            <a:off x="4828032" y="1996555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2" name="TextBox 22"/>
          <p:cNvSpPr txBox="1"/>
          <p:nvPr/>
        </p:nvSpPr>
        <p:spPr>
          <a:xfrm>
            <a:off x="4828032" y="1996555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75504" y="2014843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95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Citación de contenidos generados por IA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28032" y="2344027"/>
            <a:ext cx="38313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Publicación y difusión de la Guía de Citación de Contenidos Generados por IA, en formato digital e impreso, con su respectivo ISBN.</a:t>
            </a:r>
            <a:b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</a:b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Beneficiados: Estudiantes, Docentes, Investigadores.</a:t>
            </a:r>
            <a:endParaRPr lang="es-SV" sz="800" b="0" i="0" noProof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4828032" y="2837803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6" name="TextBox 26"/>
          <p:cNvSpPr txBox="1"/>
          <p:nvPr/>
        </p:nvSpPr>
        <p:spPr>
          <a:xfrm>
            <a:off x="4828032" y="2837803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Estado:  Implementado</a:t>
            </a:r>
          </a:p>
        </p:txBody>
      </p:sp>
      <p:sp>
        <p:nvSpPr>
          <p:cNvPr id="27" name="Shape 27"/>
          <p:cNvSpPr/>
          <p:nvPr/>
        </p:nvSpPr>
        <p:spPr>
          <a:xfrm>
            <a:off x="6245352" y="2837803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28" name="TextBox 28"/>
          <p:cNvSpPr txBox="1"/>
          <p:nvPr/>
        </p:nvSpPr>
        <p:spPr>
          <a:xfrm>
            <a:off x="6245352" y="2837803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Responsable:  Dirección de Biblioteca</a:t>
            </a:r>
          </a:p>
        </p:txBody>
      </p:sp>
      <p:sp>
        <p:nvSpPr>
          <p:cNvPr id="29" name="Shape 29"/>
          <p:cNvSpPr/>
          <p:nvPr/>
        </p:nvSpPr>
        <p:spPr>
          <a:xfrm>
            <a:off x="320040" y="3185274"/>
            <a:ext cx="4160520" cy="1455305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0" name="Shape 30"/>
          <p:cNvSpPr/>
          <p:nvPr/>
        </p:nvSpPr>
        <p:spPr>
          <a:xfrm>
            <a:off x="484632" y="3313291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1" name="TextBox 31"/>
          <p:cNvSpPr txBox="1"/>
          <p:nvPr/>
        </p:nvSpPr>
        <p:spPr>
          <a:xfrm>
            <a:off x="484632" y="331329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32104" y="3331579"/>
            <a:ext cx="3343656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95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Postulación el IFE </a:t>
            </a:r>
            <a:r>
              <a:rPr lang="es-SV" sz="950" b="1" i="0" noProof="0" err="1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Conference</a:t>
            </a:r>
            <a:r>
              <a:rPr lang="es-SV" sz="95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 2027 — TEC de Monterrey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12648" y="3627349"/>
            <a:ext cx="3831336" cy="7054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 propuso una mesa de </a:t>
            </a:r>
            <a:r>
              <a:rPr lang="es-SV" sz="8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networking</a:t>
            </a: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para un taller con el Tema: </a:t>
            </a:r>
            <a:r>
              <a:rPr lang="es-SV" sz="80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«Ecosistemas que aprenden»: gestión institucional de la innovación educativa, tecnologías emergentes e IA responsable en educación superior.</a:t>
            </a:r>
          </a:p>
          <a:p>
            <a:pPr algn="l">
              <a:lnSpc>
                <a:spcPct val="105000"/>
              </a:lnSpc>
            </a:pPr>
            <a:r>
              <a:rPr lang="es-SV" sz="8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Participantes propuestos: </a:t>
            </a:r>
            <a:r>
              <a:rPr lang="es-SV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Vicerrector de Innovación y Tecnología Educativa, Directora de Tecnología Educativa,  Directora de Biblioteca. </a:t>
            </a:r>
            <a:endParaRPr lang="es-SV" sz="800" b="0" i="0" noProof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504444" y="4351048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5" name="TextBox 35"/>
          <p:cNvSpPr txBox="1"/>
          <p:nvPr/>
        </p:nvSpPr>
        <p:spPr>
          <a:xfrm>
            <a:off x="413004" y="4351048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Estado:  Postulado</a:t>
            </a:r>
          </a:p>
        </p:txBody>
      </p:sp>
      <p:sp>
        <p:nvSpPr>
          <p:cNvPr id="36" name="Shape 36"/>
          <p:cNvSpPr/>
          <p:nvPr/>
        </p:nvSpPr>
        <p:spPr>
          <a:xfrm>
            <a:off x="2084832" y="4439496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7" name="TextBox 37"/>
          <p:cNvSpPr txBox="1"/>
          <p:nvPr/>
        </p:nvSpPr>
        <p:spPr>
          <a:xfrm>
            <a:off x="1830324" y="4351048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Responsable:  VRITE</a:t>
            </a:r>
          </a:p>
        </p:txBody>
      </p:sp>
      <p:sp>
        <p:nvSpPr>
          <p:cNvPr id="38" name="Shape 38"/>
          <p:cNvSpPr/>
          <p:nvPr/>
        </p:nvSpPr>
        <p:spPr>
          <a:xfrm>
            <a:off x="4663440" y="3185275"/>
            <a:ext cx="4160520" cy="1455304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9" name="Shape 39"/>
          <p:cNvSpPr/>
          <p:nvPr/>
        </p:nvSpPr>
        <p:spPr>
          <a:xfrm>
            <a:off x="4828032" y="3313291"/>
            <a:ext cx="256032" cy="256032"/>
          </a:xfrm>
          <a:prstGeom prst="ellipse">
            <a:avLst/>
          </a:prstGeom>
          <a:solidFill>
            <a:srgbClr val="1A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40" name="TextBox 40"/>
          <p:cNvSpPr txBox="1"/>
          <p:nvPr/>
        </p:nvSpPr>
        <p:spPr>
          <a:xfrm>
            <a:off x="4828032" y="3313291"/>
            <a:ext cx="2560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800" b="1" i="0" noProof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175504" y="3331579"/>
            <a:ext cx="29260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SV" sz="950" b="1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Agente de IA en el campus virtual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28032" y="3660763"/>
            <a:ext cx="3831336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lang="es-SV" sz="8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Incorporar audio lectura y voz en el Campus Virtual mediante un Agente de IA sobre Moodle.</a:t>
            </a:r>
          </a:p>
        </p:txBody>
      </p:sp>
      <p:sp>
        <p:nvSpPr>
          <p:cNvPr id="43" name="Shape 43"/>
          <p:cNvSpPr/>
          <p:nvPr/>
        </p:nvSpPr>
        <p:spPr>
          <a:xfrm>
            <a:off x="4828032" y="4154539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B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44" name="TextBox 44"/>
          <p:cNvSpPr txBox="1"/>
          <p:nvPr/>
        </p:nvSpPr>
        <p:spPr>
          <a:xfrm>
            <a:off x="4828032" y="4154539"/>
            <a:ext cx="132588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1" i="0" noProof="0">
                <a:solidFill>
                  <a:srgbClr val="1A3A6B"/>
                </a:solidFill>
                <a:latin typeface="Calibri"/>
                <a:ea typeface="Calibri"/>
                <a:cs typeface="Calibri"/>
              </a:rPr>
              <a:t>Estado:  Diseñado</a:t>
            </a:r>
          </a:p>
        </p:txBody>
      </p:sp>
      <p:sp>
        <p:nvSpPr>
          <p:cNvPr id="45" name="Shape 45"/>
          <p:cNvSpPr/>
          <p:nvPr/>
        </p:nvSpPr>
        <p:spPr>
          <a:xfrm>
            <a:off x="6245352" y="4154539"/>
            <a:ext cx="1920240" cy="182880"/>
          </a:xfrm>
          <a:prstGeom prst="roundRect">
            <a:avLst>
              <a:gd name="adj" fmla="val 5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46" name="TextBox 46"/>
          <p:cNvSpPr txBox="1"/>
          <p:nvPr/>
        </p:nvSpPr>
        <p:spPr>
          <a:xfrm>
            <a:off x="6245352" y="4154539"/>
            <a:ext cx="192024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s-SV" sz="700" b="0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Responsable:  DTE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2"/>
          <p:cNvSpPr txBox="1"/>
          <p:nvPr/>
        </p:nvSpPr>
        <p:spPr>
          <a:xfrm>
            <a:off x="356617" y="105155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80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Pilar 3 — Capacidad Instalada</a:t>
            </a:r>
          </a:p>
          <a:p>
            <a:pPr algn="l"/>
            <a:r>
              <a:rPr lang="es-SV" sz="1050" b="1" i="0" noProof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Líder: Director de Calidad Institucional, Colíder: Subgerencia de TI</a:t>
            </a:r>
          </a:p>
          <a:p>
            <a:pPr algn="l"/>
            <a:endParaRPr lang="es-SV" sz="1800" b="1" i="0" noProof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56617" y="926912"/>
            <a:ext cx="8503920" cy="1115568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7" name="TextBox 6"/>
          <p:cNvSpPr txBox="1"/>
          <p:nvPr/>
        </p:nvSpPr>
        <p:spPr>
          <a:xfrm>
            <a:off x="539497" y="1036640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OBJETIVO DEL PILAR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7" y="1237808"/>
            <a:ext cx="813816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s-MX" sz="12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Consolidar una capacidad instalada suficiente, confiable y segura para sustentar la transformación digital, integrando la infraestructura tecnológica —equipos, conectividad y centros de datos—, los procesos institucionales y la gestión de datos que garantizan eficiencia, disponibilidad y seguridad.</a:t>
            </a:r>
            <a:endParaRPr lang="es-SV" sz="1200" b="0" i="0" noProof="0">
              <a:solidFill>
                <a:srgbClr val="1E2D4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2206795"/>
            <a:ext cx="4136136" cy="2738585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0" name="TextBox 9"/>
          <p:cNvSpPr txBox="1"/>
          <p:nvPr/>
        </p:nvSpPr>
        <p:spPr>
          <a:xfrm>
            <a:off x="484633" y="2250506"/>
            <a:ext cx="3098370" cy="2142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10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QUÉ EVALÚA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97395"/>
            <a:ext cx="3656077" cy="1436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8872" indent="-118872"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>
                <a:solidFill>
                  <a:srgbClr val="1E2D4E"/>
                </a:solidFill>
                <a:ea typeface="Calibri"/>
                <a:cs typeface="Calibri"/>
              </a:rPr>
              <a:t>Procesos y procedimientos institucionales documentados y estandarizados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Infraestructura física, conectividad y centros de datos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Gestión de datos: disponibilidad, eficiencia y seguridad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7824" y="2178437"/>
            <a:ext cx="4136136" cy="2771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8" name="TextBox 17"/>
          <p:cNvSpPr txBox="1"/>
          <p:nvPr/>
        </p:nvSpPr>
        <p:spPr>
          <a:xfrm>
            <a:off x="5093208" y="2305369"/>
            <a:ext cx="2606873" cy="21426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10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PRIORIDAD 2026</a:t>
            </a: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C4A183ED-5B8B-AE46-A356-C456B7F8363F}"/>
              </a:ext>
            </a:extLst>
          </p:cNvPr>
          <p:cNvSpPr txBox="1"/>
          <p:nvPr/>
        </p:nvSpPr>
        <p:spPr>
          <a:xfrm>
            <a:off x="5021580" y="2611695"/>
            <a:ext cx="3656077" cy="14368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8872" indent="-118872"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>
                <a:solidFill>
                  <a:srgbClr val="1E2D4E"/>
                </a:solidFill>
                <a:ea typeface="Calibri"/>
                <a:cs typeface="Calibri"/>
              </a:rPr>
              <a:t>Actualización del manual de procesos con enfoque en el desarrollo del Sistema de Gestión Universitaria (ERP)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Alinear los planes de trabajo entre la Dirección de Calidad y la Subgerencia de TI para contribuir al levantamiento de requerimientos del sistema (DRF)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4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Priorizar </a:t>
            </a:r>
            <a:r>
              <a:rPr lang="es-SV" sz="140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la actualización o creación de </a:t>
            </a:r>
            <a:r>
              <a:rPr lang="es-SV" sz="14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procedimientos en función del Producto Mínimo Viable en el trimestre 01-2027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endParaRPr lang="es-SV" sz="1400" b="0" i="0" noProof="0">
              <a:solidFill>
                <a:srgbClr val="1E2D4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5E3FE-B7A5-46B5-DB6F-ADC2BE2DE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11637FE-7223-13AA-45B4-6D8EB1540427}"/>
              </a:ext>
            </a:extLst>
          </p:cNvPr>
          <p:cNvSpPr/>
          <p:nvPr/>
        </p:nvSpPr>
        <p:spPr>
          <a:xfrm>
            <a:off x="-2721" y="-15457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98B546-93D7-2E3C-6717-87D15EE0C2FB}"/>
              </a:ext>
            </a:extLst>
          </p:cNvPr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3 — Capacidad Instalada</a:t>
            </a:r>
            <a:endParaRPr lang="es-SV" sz="1800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99A2408-A05D-9AD7-A037-91B806AD07FF}"/>
              </a:ext>
            </a:extLst>
          </p:cNvPr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507C90B-520A-FBB4-2625-92ADCB8B13C1}"/>
              </a:ext>
            </a:extLst>
          </p:cNvPr>
          <p:cNvSpPr/>
          <p:nvPr/>
        </p:nvSpPr>
        <p:spPr>
          <a:xfrm>
            <a:off x="500743" y="4598997"/>
            <a:ext cx="82296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0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estratégico: </a:t>
            </a:r>
            <a:r>
              <a:rPr lang="es-SV" sz="1050" noProof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Procedimientos actualizados → requerimientos ERP precisos → menor retrabajo y mayor eficiencia en la implementación.</a:t>
            </a:r>
            <a:endParaRPr lang="es-SV" sz="1050" noProof="0"/>
          </a:p>
        </p:txBody>
      </p:sp>
      <p:pic>
        <p:nvPicPr>
          <p:cNvPr id="28" name="Imagen 27" descr="Aranceles comunes UEES - Universidad Evangélica de El Salvador">
            <a:extLst>
              <a:ext uri="{FF2B5EF4-FFF2-40B4-BE49-F238E27FC236}">
                <a16:creationId xmlns:a16="http://schemas.microsoft.com/office/drawing/2014/main" id="{D11460C0-8F40-35D2-7EEC-E93DDB36A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08" y="43190"/>
            <a:ext cx="679464" cy="61975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711608D-BEAC-1A00-777A-15B8E398A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46914-36F9-D50C-C9E7-24F41CD4C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8886D8-89BD-6ECD-95F7-FE2657EB8893}"/>
              </a:ext>
            </a:extLst>
          </p:cNvPr>
          <p:cNvSpPr/>
          <p:nvPr/>
        </p:nvSpPr>
        <p:spPr>
          <a:xfrm>
            <a:off x="-2721" y="-15457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A1C4E23-F4E5-2E65-470A-9A5BA6DD5982}"/>
              </a:ext>
            </a:extLst>
          </p:cNvPr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3 — Capacidad Instalada</a:t>
            </a:r>
            <a:r>
              <a:rPr lang="es-SV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Actualización de procedimientos </a:t>
            </a:r>
            <a:endParaRPr lang="es-SV" sz="1800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C173616-72DD-3819-254F-CB2CEC1CDE70}"/>
              </a:ext>
            </a:extLst>
          </p:cNvPr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8601D2C-CF8F-91E8-0E5E-08334460E5DD}"/>
              </a:ext>
            </a:extLst>
          </p:cNvPr>
          <p:cNvSpPr/>
          <p:nvPr/>
        </p:nvSpPr>
        <p:spPr>
          <a:xfrm>
            <a:off x="228600" y="853881"/>
            <a:ext cx="8686800" cy="407495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258472-D398-6625-2618-7B5AD333CFAD}"/>
              </a:ext>
            </a:extLst>
          </p:cNvPr>
          <p:cNvSpPr/>
          <p:nvPr/>
        </p:nvSpPr>
        <p:spPr>
          <a:xfrm>
            <a:off x="708660" y="900471"/>
            <a:ext cx="5900614" cy="3876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s-SV" sz="1100" b="1" noProof="0">
                <a:solidFill>
                  <a:srgbClr val="1A3A6B"/>
                </a:solidFill>
                <a:ea typeface="Calibri"/>
                <a:cs typeface="Calibri"/>
              </a:rPr>
              <a:t>Estado de avance del levantamiento de procedimientos conforme a los requerimientos del ERP y solicitudes de Rectoría y otras autoridades.</a:t>
            </a:r>
            <a:endParaRPr lang="es-SV" sz="1100" noProof="0"/>
          </a:p>
        </p:txBody>
      </p:sp>
      <p:pic>
        <p:nvPicPr>
          <p:cNvPr id="28" name="Imagen 27" descr="Aranceles comunes UEES - Universidad Evangélica de El Salvador">
            <a:extLst>
              <a:ext uri="{FF2B5EF4-FFF2-40B4-BE49-F238E27FC236}">
                <a16:creationId xmlns:a16="http://schemas.microsoft.com/office/drawing/2014/main" id="{771BEA7B-267D-AB69-D402-C2252B9B6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08" y="43190"/>
            <a:ext cx="679464" cy="619750"/>
          </a:xfrm>
          <a:prstGeom prst="rect">
            <a:avLst/>
          </a:prstGeom>
        </p:spPr>
      </p:pic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88ADF3ED-818C-4498-72A4-10B2DA03F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8726"/>
              </p:ext>
            </p:extLst>
          </p:nvPr>
        </p:nvGraphicFramePr>
        <p:xfrm>
          <a:off x="409301" y="1253166"/>
          <a:ext cx="6313312" cy="355244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3850">
                  <a:extLst>
                    <a:ext uri="{9D8B030D-6E8A-4147-A177-3AD203B41FA5}">
                      <a16:colId xmlns:a16="http://schemas.microsoft.com/office/drawing/2014/main" val="154927452"/>
                    </a:ext>
                  </a:extLst>
                </a:gridCol>
                <a:gridCol w="1337405">
                  <a:extLst>
                    <a:ext uri="{9D8B030D-6E8A-4147-A177-3AD203B41FA5}">
                      <a16:colId xmlns:a16="http://schemas.microsoft.com/office/drawing/2014/main" val="1456823008"/>
                    </a:ext>
                  </a:extLst>
                </a:gridCol>
                <a:gridCol w="919867">
                  <a:extLst>
                    <a:ext uri="{9D8B030D-6E8A-4147-A177-3AD203B41FA5}">
                      <a16:colId xmlns:a16="http://schemas.microsoft.com/office/drawing/2014/main" val="1161029859"/>
                    </a:ext>
                  </a:extLst>
                </a:gridCol>
                <a:gridCol w="850217">
                  <a:extLst>
                    <a:ext uri="{9D8B030D-6E8A-4147-A177-3AD203B41FA5}">
                      <a16:colId xmlns:a16="http://schemas.microsoft.com/office/drawing/2014/main" val="2365213390"/>
                    </a:ext>
                  </a:extLst>
                </a:gridCol>
                <a:gridCol w="914545">
                  <a:extLst>
                    <a:ext uri="{9D8B030D-6E8A-4147-A177-3AD203B41FA5}">
                      <a16:colId xmlns:a16="http://schemas.microsoft.com/office/drawing/2014/main" val="272507711"/>
                    </a:ext>
                  </a:extLst>
                </a:gridCol>
                <a:gridCol w="983381">
                  <a:extLst>
                    <a:ext uri="{9D8B030D-6E8A-4147-A177-3AD203B41FA5}">
                      <a16:colId xmlns:a16="http://schemas.microsoft.com/office/drawing/2014/main" val="791329701"/>
                    </a:ext>
                  </a:extLst>
                </a:gridCol>
                <a:gridCol w="944047">
                  <a:extLst>
                    <a:ext uri="{9D8B030D-6E8A-4147-A177-3AD203B41FA5}">
                      <a16:colId xmlns:a16="http://schemas.microsoft.com/office/drawing/2014/main" val="2375394646"/>
                    </a:ext>
                  </a:extLst>
                </a:gridCol>
              </a:tblGrid>
              <a:tr h="757506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#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PROCESOS PLANIFICADOS PARA 2026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# procedimientos vigentes según Manual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Planificados para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actualizar/ crear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Total, de procedimientos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Publicados al 30 de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Junio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#Procedimientos revisados por CCI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% de Avance de actualización del Manual/Proceso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909080"/>
                  </a:ext>
                </a:extLst>
              </a:tr>
              <a:tr h="36569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Articulación de funciones vitales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23 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24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981948"/>
                  </a:ext>
                </a:extLst>
              </a:tr>
              <a:tr h="23508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Competencias y Cultura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91.6%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034128"/>
                  </a:ext>
                </a:extLst>
              </a:tr>
              <a:tr h="235088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Adquisición y provisión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12.5%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506377"/>
                  </a:ext>
                </a:extLst>
              </a:tr>
              <a:tr h="4962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Gestión de servicios estudiantiles y graduados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14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53.84%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794358"/>
                  </a:ext>
                </a:extLst>
              </a:tr>
              <a:tr h="36569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Gestión de ingreso estudiantil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17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47.05%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3744750"/>
                  </a:ext>
                </a:extLst>
              </a:tr>
              <a:tr h="365693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11.0 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Sostenibilidad Financiera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19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63.15%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379611"/>
                  </a:ext>
                </a:extLst>
              </a:tr>
              <a:tr h="496297"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12.0 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Monitoreo, evaluación y mejora del control interno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-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100%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367714"/>
                  </a:ext>
                </a:extLst>
              </a:tr>
              <a:tr h="235088">
                <a:tc gridSpan="2"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TOTAL  </a:t>
                      </a:r>
                      <a:endParaRPr lang="es-SV" sz="900" b="1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70 </a:t>
                      </a:r>
                      <a:endParaRPr lang="es-SV" sz="900" b="1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95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127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46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49 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rtl="0" fontAlgn="base">
                        <a:lnSpc>
                          <a:spcPts val="900"/>
                        </a:lnSpc>
                        <a:buNone/>
                      </a:pPr>
                      <a:r>
                        <a:rPr lang="es-SV" sz="800" b="1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48.93%</a:t>
                      </a:r>
                      <a:r>
                        <a:rPr lang="es-SV" sz="800" b="0" i="0" noProof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 </a:t>
                      </a:r>
                      <a:endParaRPr lang="es-SV" sz="900" b="0" i="0" noProof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6675" marR="6667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324402"/>
                  </a:ext>
                </a:extLst>
              </a:tr>
            </a:tbl>
          </a:graphicData>
        </a:graphic>
      </p:graphicFrame>
      <p:sp>
        <p:nvSpPr>
          <p:cNvPr id="14" name="Shape 7">
            <a:extLst>
              <a:ext uri="{FF2B5EF4-FFF2-40B4-BE49-F238E27FC236}">
                <a16:creationId xmlns:a16="http://schemas.microsoft.com/office/drawing/2014/main" id="{E912C2A3-5176-5D5D-43F1-EB44ED19C689}"/>
              </a:ext>
            </a:extLst>
          </p:cNvPr>
          <p:cNvSpPr/>
          <p:nvPr/>
        </p:nvSpPr>
        <p:spPr>
          <a:xfrm>
            <a:off x="6801394" y="1365871"/>
            <a:ext cx="1792550" cy="466403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2700">
            <a:solidFill>
              <a:srgbClr val="F5B800"/>
            </a:solidFill>
            <a:prstDash val="solid"/>
          </a:ln>
        </p:spPr>
        <p:txBody>
          <a:bodyPr lIns="91440" tIns="45720" rIns="91440" bIns="45720" anchor="t"/>
          <a:lstStyle/>
          <a:p>
            <a:pPr algn="ctr"/>
            <a:r>
              <a:rPr lang="es-SV" sz="950" noProof="0">
                <a:solidFill>
                  <a:srgbClr val="000000"/>
                </a:solidFill>
                <a:latin typeface="Calibri"/>
              </a:rPr>
              <a:t>48.93</a:t>
            </a:r>
            <a:r>
              <a:rPr lang="es-SV" sz="950" b="0" i="0" u="none" strike="noStrike" baseline="0" noProof="0">
                <a:solidFill>
                  <a:srgbClr val="000000"/>
                </a:solidFill>
                <a:latin typeface="Calibri"/>
              </a:rPr>
              <a:t>% de avance, </a:t>
            </a:r>
            <a:r>
              <a:rPr lang="es-SV" sz="950" noProof="0">
                <a:solidFill>
                  <a:srgbClr val="000000"/>
                </a:solidFill>
                <a:latin typeface="Calibri"/>
              </a:rPr>
              <a:t>46</a:t>
            </a:r>
            <a:r>
              <a:rPr lang="es-SV" sz="950" b="0" i="0" u="none" strike="noStrike" baseline="0" noProof="0">
                <a:solidFill>
                  <a:srgbClr val="000000"/>
                </a:solidFill>
                <a:latin typeface="Calibri"/>
              </a:rPr>
              <a:t> procedimientos publicados. </a:t>
            </a:r>
            <a:endParaRPr lang="es-SV" noProof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2F85A557-7CB7-C745-DEA2-39EEAE91A991}"/>
              </a:ext>
            </a:extLst>
          </p:cNvPr>
          <p:cNvSpPr/>
          <p:nvPr/>
        </p:nvSpPr>
        <p:spPr>
          <a:xfrm>
            <a:off x="6794772" y="2019740"/>
            <a:ext cx="1800433" cy="2331368"/>
          </a:xfrm>
          <a:prstGeom prst="roundRect">
            <a:avLst>
              <a:gd name="adj" fmla="val 10000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1440" tIns="45720" rIns="91440" bIns="45720" anchor="t"/>
          <a:lstStyle/>
          <a:p>
            <a:pPr algn="just"/>
            <a:r>
              <a:rPr lang="es-SV" sz="1050" noProof="0"/>
              <a:t>Al cierre de junio, el plan de trabajo son 95 procedimientos.</a:t>
            </a:r>
          </a:p>
          <a:p>
            <a:pPr algn="just"/>
            <a:r>
              <a:rPr lang="es-SV" sz="1050">
                <a:ea typeface="Calibri" panose="020F0502020204030204"/>
                <a:cs typeface="Calibri" panose="020F0502020204030204"/>
              </a:rPr>
              <a:t>El Comité de Calidad revisa y aprueba cada procedimiento y el Líder del proceso presenta la justificación y modificación.</a:t>
            </a:r>
          </a:p>
          <a:p>
            <a:pPr algn="just"/>
            <a:r>
              <a:rPr lang="es-SV" sz="1050" noProof="0">
                <a:ea typeface="Calibri" panose="020F0502020204030204"/>
                <a:cs typeface="Calibri" panose="020F0502020204030204"/>
              </a:rPr>
              <a:t>CCI: </a:t>
            </a:r>
          </a:p>
          <a:p>
            <a:pPr algn="just"/>
            <a:r>
              <a:rPr lang="es-SV" sz="1050" noProof="0">
                <a:ea typeface="Calibri" panose="020F0502020204030204"/>
                <a:cs typeface="Calibri" panose="020F0502020204030204"/>
              </a:rPr>
              <a:t>DIGGEI, DTD, STI, DA, JCF, JTH, DCI</a:t>
            </a:r>
          </a:p>
        </p:txBody>
      </p:sp>
    </p:spTree>
    <p:extLst>
      <p:ext uri="{BB962C8B-B14F-4D97-AF65-F5344CB8AC3E}">
        <p14:creationId xmlns:p14="http://schemas.microsoft.com/office/powerpoint/2010/main" val="206779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F0258-F408-70A5-44B1-538D9BFE6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7B2FA13-B1F8-01CF-F6BD-5D704B05D258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5708FD-E004-8A08-7D7A-E052210CE65A}"/>
              </a:ext>
            </a:extLst>
          </p:cNvPr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3 — Capacidad Instalada: Lecciones aprendidas</a:t>
            </a:r>
            <a:endParaRPr lang="es-SV" sz="1800" noProof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233FCC-510F-3A88-099D-19EE096DF43E}"/>
              </a:ext>
            </a:extLst>
          </p:cNvPr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9A21D8D-091A-E836-0112-BCB2C77FE989}"/>
              </a:ext>
            </a:extLst>
          </p:cNvPr>
          <p:cNvSpPr/>
          <p:nvPr/>
        </p:nvSpPr>
        <p:spPr>
          <a:xfrm>
            <a:off x="320040" y="807859"/>
            <a:ext cx="8498478" cy="287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SV" sz="1100" i="1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Aspectos identificados durante el levantamiento de procedimientos</a:t>
            </a:r>
          </a:p>
        </p:txBody>
      </p:sp>
      <p:pic>
        <p:nvPicPr>
          <p:cNvPr id="28" name="Imagen 27" descr="Aranceles comunes UEES - Universidad Evangélica de El Salvador">
            <a:extLst>
              <a:ext uri="{FF2B5EF4-FFF2-40B4-BE49-F238E27FC236}">
                <a16:creationId xmlns:a16="http://schemas.microsoft.com/office/drawing/2014/main" id="{E89DE508-0CED-A4EA-5D07-8C4527A7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08" y="43190"/>
            <a:ext cx="679464" cy="6197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88B443-A91F-DBDB-6766-F9015026A3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4" t="9216" r="1426" b="8898"/>
          <a:stretch>
            <a:fillRect/>
          </a:stretch>
        </p:blipFill>
        <p:spPr>
          <a:xfrm>
            <a:off x="401006" y="1097201"/>
            <a:ext cx="8354448" cy="3580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71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3" name="TextBox 2"/>
          <p:cNvSpPr txBox="1"/>
          <p:nvPr/>
        </p:nvSpPr>
        <p:spPr>
          <a:xfrm>
            <a:off x="356617" y="250394"/>
            <a:ext cx="7498079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800" b="1" i="0" noProof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Pilar 5 — Tecnología</a:t>
            </a:r>
            <a:br>
              <a:rPr lang="es-SV" sz="1800" b="1" i="0" noProof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</a:br>
            <a:r>
              <a:rPr lang="es-SV" sz="1050" b="1" i="0" noProof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Líder: Jefe de TI, Colíder: Director de Tecnología Educativa</a:t>
            </a:r>
          </a:p>
          <a:p>
            <a:pPr algn="l"/>
            <a:br>
              <a:rPr lang="es-SV" sz="1800" b="1" i="0" noProof="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</a:br>
            <a:endParaRPr lang="es-SV" sz="1800" b="1" i="0" noProof="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"/>
            <a:ext cx="676656" cy="6217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20040" y="975131"/>
            <a:ext cx="8503920" cy="1293419"/>
          </a:xfrm>
          <a:prstGeom prst="roundRect">
            <a:avLst>
              <a:gd name="adj" fmla="val 5000"/>
            </a:avLst>
          </a:prstGeom>
          <a:solidFill>
            <a:srgbClr val="F4F7FB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7" name="TextBox 6"/>
          <p:cNvSpPr txBox="1"/>
          <p:nvPr/>
        </p:nvSpPr>
        <p:spPr>
          <a:xfrm>
            <a:off x="502920" y="1084860"/>
            <a:ext cx="2743200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90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OBJETIVO DEL PILAR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6028"/>
            <a:ext cx="813816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</a:pPr>
            <a:r>
              <a:rPr lang="es-MX" sz="1400" b="0" i="0" noProof="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Asegurar el uso estratégico y la evolución continua de las soluciones tecnológicas que soportan la gestión institucional y los servicios universitarios, promoviendo su interoperabilidad, la satisfacción de los usuarios y el aprovechamiento de tecnologías emergentes.</a:t>
            </a:r>
            <a:endParaRPr lang="es-SV" sz="1400" b="0" i="0" noProof="0" dirty="0">
              <a:solidFill>
                <a:srgbClr val="1E2D4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0040" y="2579447"/>
            <a:ext cx="850392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lang="es-SV" noProof="0"/>
          </a:p>
        </p:txBody>
      </p:sp>
      <p:sp>
        <p:nvSpPr>
          <p:cNvPr id="10" name="TextBox 9"/>
          <p:cNvSpPr txBox="1"/>
          <p:nvPr/>
        </p:nvSpPr>
        <p:spPr>
          <a:xfrm>
            <a:off x="429767" y="2670888"/>
            <a:ext cx="2838773" cy="1554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SV" sz="1050" b="1" i="0" noProof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QUÉ EVALÚA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908632"/>
            <a:ext cx="8211312" cy="10424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2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Uso estratégico y experiencia digital del usuario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2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Interoperabilidad y evolución de las herramientas</a:t>
            </a:r>
          </a:p>
          <a:p>
            <a:pPr marL="118872" indent="-118872" algn="l">
              <a:lnSpc>
                <a:spcPct val="100000"/>
              </a:lnSpc>
              <a:spcAft>
                <a:spcPts val="400"/>
              </a:spcAft>
              <a:buClr>
                <a:srgbClr val="F5B800"/>
              </a:buClr>
              <a:buSzPct val="80000"/>
              <a:buFont typeface="Arial"/>
              <a:buChar char="•"/>
            </a:pPr>
            <a:r>
              <a:rPr lang="es-SV" sz="1200" b="0" i="0" noProof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Aprovechamiento de tecnologías emergentes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800" b="1" noProof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Pilar 5 — Tecnología</a:t>
            </a:r>
            <a:endParaRPr lang="es-SV" sz="1800" noProof="0"/>
          </a:p>
        </p:txBody>
      </p:sp>
      <p:sp>
        <p:nvSpPr>
          <p:cNvPr id="4" name="Shape 2"/>
          <p:cNvSpPr/>
          <p:nvPr/>
        </p:nvSpPr>
        <p:spPr>
          <a:xfrm>
            <a:off x="7863840" y="0"/>
            <a:ext cx="1143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6" name="Shape 3"/>
          <p:cNvSpPr/>
          <p:nvPr/>
        </p:nvSpPr>
        <p:spPr>
          <a:xfrm>
            <a:off x="320040" y="804672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7" name="Shape 4"/>
          <p:cNvSpPr/>
          <p:nvPr/>
        </p:nvSpPr>
        <p:spPr>
          <a:xfrm>
            <a:off x="484632" y="960120"/>
            <a:ext cx="256032" cy="256032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8" name="Text 5"/>
          <p:cNvSpPr/>
          <p:nvPr/>
        </p:nvSpPr>
        <p:spPr>
          <a:xfrm>
            <a:off x="822960" y="896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2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</a:t>
            </a:r>
            <a:endParaRPr lang="es-SV" sz="1250" noProof="0"/>
          </a:p>
        </p:txBody>
      </p:sp>
      <p:sp>
        <p:nvSpPr>
          <p:cNvPr id="9" name="Text 6"/>
          <p:cNvSpPr/>
          <p:nvPr/>
        </p:nvSpPr>
        <p:spPr>
          <a:xfrm>
            <a:off x="822960" y="12252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950" i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</a:t>
            </a:r>
            <a:r>
              <a:rPr lang="es-SV" sz="950" i="1" noProof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pentest</a:t>
            </a:r>
            <a:r>
              <a:rPr lang="es-SV" sz="950" i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lista</a:t>
            </a:r>
            <a:endParaRPr lang="es-SV" sz="950" noProof="0"/>
          </a:p>
        </p:txBody>
      </p:sp>
      <p:sp>
        <p:nvSpPr>
          <p:cNvPr id="10" name="Text 7"/>
          <p:cNvSpPr/>
          <p:nvPr/>
        </p:nvSpPr>
        <p:spPr>
          <a:xfrm>
            <a:off x="484632" y="14904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000" noProof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prueba de penetración institucional preparada y lista para su ejecución. Primer paso formal hacia la madurez en seguridad. Negociando cotización para ejecución en trimestre 3. </a:t>
            </a:r>
            <a:endParaRPr lang="es-SV" sz="1000" noProof="0"/>
          </a:p>
        </p:txBody>
      </p:sp>
      <p:sp>
        <p:nvSpPr>
          <p:cNvPr id="11" name="Shape 8"/>
          <p:cNvSpPr/>
          <p:nvPr/>
        </p:nvSpPr>
        <p:spPr>
          <a:xfrm>
            <a:off x="3520440" y="23774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BF1F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12" name="Text 9"/>
          <p:cNvSpPr/>
          <p:nvPr/>
        </p:nvSpPr>
        <p:spPr>
          <a:xfrm>
            <a:off x="3520440" y="2377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7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SV" sz="750" b="1" noProof="0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s-SV" sz="750" noProof="0" dirty="0"/>
          </a:p>
        </p:txBody>
      </p:sp>
      <p:sp>
        <p:nvSpPr>
          <p:cNvPr id="13" name="Shape 10"/>
          <p:cNvSpPr/>
          <p:nvPr/>
        </p:nvSpPr>
        <p:spPr>
          <a:xfrm>
            <a:off x="4709160" y="804672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14" name="Shape 11"/>
          <p:cNvSpPr/>
          <p:nvPr/>
        </p:nvSpPr>
        <p:spPr>
          <a:xfrm>
            <a:off x="4873752" y="960120"/>
            <a:ext cx="256032" cy="25603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15" name="Text 12"/>
          <p:cNvSpPr/>
          <p:nvPr/>
        </p:nvSpPr>
        <p:spPr>
          <a:xfrm>
            <a:off x="5212080" y="8961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2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Digital</a:t>
            </a:r>
            <a:endParaRPr lang="es-SV" sz="1250" noProof="0"/>
          </a:p>
        </p:txBody>
      </p:sp>
      <p:sp>
        <p:nvSpPr>
          <p:cNvPr id="16" name="Text 13"/>
          <p:cNvSpPr/>
          <p:nvPr/>
        </p:nvSpPr>
        <p:spPr>
          <a:xfrm>
            <a:off x="5212080" y="122529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950" i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implementación</a:t>
            </a:r>
            <a:endParaRPr lang="es-SV" sz="950" noProof="0"/>
          </a:p>
        </p:txBody>
      </p:sp>
      <p:sp>
        <p:nvSpPr>
          <p:cNvPr id="17" name="Text 14"/>
          <p:cNvSpPr/>
          <p:nvPr/>
        </p:nvSpPr>
        <p:spPr>
          <a:xfrm>
            <a:off x="4873752" y="1490472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000" noProof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activa en mandos medios. El proceso continúa su despliegue institucional para formalizar la identidad digital a nivel organizacional. Se finalizó segunda fase y se iniciará la tercera fase.</a:t>
            </a:r>
            <a:endParaRPr lang="es-SV" sz="1000" noProof="0"/>
          </a:p>
        </p:txBody>
      </p:sp>
      <p:sp>
        <p:nvSpPr>
          <p:cNvPr id="18" name="Shape 15"/>
          <p:cNvSpPr/>
          <p:nvPr/>
        </p:nvSpPr>
        <p:spPr>
          <a:xfrm>
            <a:off x="7909560" y="2377440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BF1FA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19" name="Text 16"/>
          <p:cNvSpPr/>
          <p:nvPr/>
        </p:nvSpPr>
        <p:spPr>
          <a:xfrm>
            <a:off x="7909560" y="237744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750" b="1" dirty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SV" sz="750" b="1" noProof="0" dirty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</a:t>
            </a:r>
            <a:endParaRPr lang="es-SV" sz="750" noProof="0" dirty="0"/>
          </a:p>
        </p:txBody>
      </p:sp>
      <p:sp>
        <p:nvSpPr>
          <p:cNvPr id="20" name="Shape 17"/>
          <p:cNvSpPr/>
          <p:nvPr/>
        </p:nvSpPr>
        <p:spPr>
          <a:xfrm>
            <a:off x="320040" y="2834640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21" name="Shape 18"/>
          <p:cNvSpPr/>
          <p:nvPr/>
        </p:nvSpPr>
        <p:spPr>
          <a:xfrm>
            <a:off x="484632" y="2990088"/>
            <a:ext cx="256032" cy="256032"/>
          </a:xfrm>
          <a:prstGeom prst="ellipse">
            <a:avLst/>
          </a:prstGeom>
          <a:solidFill>
            <a:srgbClr val="0D7490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2" name="Text 19"/>
          <p:cNvSpPr/>
          <p:nvPr/>
        </p:nvSpPr>
        <p:spPr>
          <a:xfrm>
            <a:off x="822960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2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Analítica Institucional</a:t>
            </a:r>
            <a:endParaRPr lang="es-SV" sz="1250" noProof="0"/>
          </a:p>
        </p:txBody>
      </p:sp>
      <p:sp>
        <p:nvSpPr>
          <p:cNvPr id="23" name="Text 20"/>
          <p:cNvSpPr/>
          <p:nvPr/>
        </p:nvSpPr>
        <p:spPr>
          <a:xfrm>
            <a:off x="822960" y="32552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950" i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Evaluando propuestas</a:t>
            </a:r>
            <a:endParaRPr lang="es-SV" sz="950" noProof="0"/>
          </a:p>
        </p:txBody>
      </p:sp>
      <p:sp>
        <p:nvSpPr>
          <p:cNvPr id="24" name="Text 21"/>
          <p:cNvSpPr/>
          <p:nvPr/>
        </p:nvSpPr>
        <p:spPr>
          <a:xfrm>
            <a:off x="484632" y="3520440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000" noProof="0" dirty="0">
                <a:solidFill>
                  <a:srgbClr val="1E2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asistió a presentación de propuesta de proveedor con participación de DTI y DTD. Evaluación en curso para toma de decisión institucional.</a:t>
            </a:r>
            <a:endParaRPr lang="es-SV" sz="1000" noProof="0" dirty="0"/>
          </a:p>
        </p:txBody>
      </p:sp>
      <p:sp>
        <p:nvSpPr>
          <p:cNvPr id="25" name="Shape 22"/>
          <p:cNvSpPr/>
          <p:nvPr/>
        </p:nvSpPr>
        <p:spPr>
          <a:xfrm>
            <a:off x="3520440" y="440740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BF1FA"/>
          </a:solidFill>
          <a:ln w="12700">
            <a:solidFill>
              <a:srgbClr val="0D7490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6" name="Text 23"/>
          <p:cNvSpPr/>
          <p:nvPr/>
        </p:nvSpPr>
        <p:spPr>
          <a:xfrm>
            <a:off x="3520440" y="44074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750" b="1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r>
              <a:rPr lang="es-SV" sz="750" b="1" noProof="0" dirty="0">
                <a:solidFill>
                  <a:srgbClr val="0D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· DTE</a:t>
            </a:r>
            <a:endParaRPr lang="es-SV" sz="750" noProof="0" dirty="0"/>
          </a:p>
        </p:txBody>
      </p:sp>
      <p:sp>
        <p:nvSpPr>
          <p:cNvPr id="27" name="Shape 24"/>
          <p:cNvSpPr/>
          <p:nvPr/>
        </p:nvSpPr>
        <p:spPr>
          <a:xfrm>
            <a:off x="4709160" y="2834640"/>
            <a:ext cx="4114800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SV" noProof="0"/>
          </a:p>
        </p:txBody>
      </p:sp>
      <p:sp>
        <p:nvSpPr>
          <p:cNvPr id="28" name="Shape 25"/>
          <p:cNvSpPr/>
          <p:nvPr/>
        </p:nvSpPr>
        <p:spPr>
          <a:xfrm>
            <a:off x="4873752" y="2990088"/>
            <a:ext cx="256032" cy="256032"/>
          </a:xfrm>
          <a:prstGeom prst="ellipse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29" name="Text 26"/>
          <p:cNvSpPr/>
          <p:nvPr/>
        </p:nvSpPr>
        <p:spPr>
          <a:xfrm>
            <a:off x="5212080" y="29260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1250" b="1" noProof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Institucional</a:t>
            </a:r>
            <a:endParaRPr lang="es-SV" sz="1250" noProof="0"/>
          </a:p>
        </p:txBody>
      </p:sp>
      <p:sp>
        <p:nvSpPr>
          <p:cNvPr id="30" name="Text 27"/>
          <p:cNvSpPr/>
          <p:nvPr/>
        </p:nvSpPr>
        <p:spPr>
          <a:xfrm>
            <a:off x="5212080" y="325526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SV" sz="950" i="1" noProof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desarrollo inicial</a:t>
            </a:r>
            <a:endParaRPr lang="es-SV" sz="950" noProof="0"/>
          </a:p>
        </p:txBody>
      </p:sp>
      <p:sp>
        <p:nvSpPr>
          <p:cNvPr id="31" name="Text 28"/>
          <p:cNvSpPr/>
          <p:nvPr/>
        </p:nvSpPr>
        <p:spPr>
          <a:xfrm>
            <a:off x="4873752" y="3520440"/>
            <a:ext cx="374904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s-MX" sz="1000" noProof="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STI avanza en coordinación con DCI, que tiene planificado el levantamiento y actualización de procedimientos como base para los requerimientos del ERP.</a:t>
            </a:r>
            <a:r>
              <a:rPr lang="es-MX" sz="100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 De</a:t>
            </a:r>
            <a:r>
              <a:rPr lang="es-MX" sz="1000" noProof="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 las fases </a:t>
            </a:r>
            <a:r>
              <a:rPr lang="es-MX" sz="100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s-MX" sz="1000" noProof="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s-MX" sz="100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ejecución al</a:t>
            </a:r>
            <a:r>
              <a:rPr lang="es-MX" sz="1000" noProof="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 trimestre 2.</a:t>
            </a:r>
            <a:r>
              <a:rPr lang="es-MX" sz="1000" dirty="0">
                <a:solidFill>
                  <a:srgbClr val="1E2D4E"/>
                </a:solidFill>
                <a:latin typeface="Calibri"/>
                <a:ea typeface="Calibri"/>
                <a:cs typeface="Calibri"/>
              </a:rPr>
              <a:t> se lleva un 48%.</a:t>
            </a:r>
            <a:endParaRPr lang="es-MX" sz="1000" noProof="0" dirty="0">
              <a:solidFill>
                <a:srgbClr val="1E2D4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7909560" y="4407408"/>
            <a:ext cx="777240" cy="201168"/>
          </a:xfrm>
          <a:prstGeom prst="roundRect">
            <a:avLst>
              <a:gd name="adj" fmla="val 18182"/>
            </a:avLst>
          </a:prstGeom>
          <a:solidFill>
            <a:srgbClr val="EBF1FA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es-SV" noProof="0"/>
          </a:p>
        </p:txBody>
      </p:sp>
      <p:sp>
        <p:nvSpPr>
          <p:cNvPr id="33" name="Text 30"/>
          <p:cNvSpPr/>
          <p:nvPr/>
        </p:nvSpPr>
        <p:spPr>
          <a:xfrm>
            <a:off x="7909560" y="4407408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SV" sz="750" b="1" noProof="0" dirty="0">
                <a:solidFill>
                  <a:srgbClr val="2B5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- DICA</a:t>
            </a:r>
            <a:endParaRPr lang="es-SV" sz="750" noProof="0" dirty="0"/>
          </a:p>
        </p:txBody>
      </p:sp>
      <p:pic>
        <p:nvPicPr>
          <p:cNvPr id="35" name="Imagen 34" descr="Aranceles comunes UEES - Universidad Evangélica de El Salvador">
            <a:extLst>
              <a:ext uri="{FF2B5EF4-FFF2-40B4-BE49-F238E27FC236}">
                <a16:creationId xmlns:a16="http://schemas.microsoft.com/office/drawing/2014/main" id="{12B29C19-FCC9-92F5-B6AF-56FA86E6F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608" y="43190"/>
            <a:ext cx="679464" cy="619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7E0D915-17FE-41D8-83DD-924EE2D0563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D88B03C-4811-4A4A-92F8-DAB5C7B42EFC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179EE9F-9614-4652-B29A-F9F131B169F4}"/>
              </a:ext>
            </a:extLst>
          </p:cNvPr>
          <p:cNvSpPr txBox="1"/>
          <p:nvPr/>
        </p:nvSpPr>
        <p:spPr>
          <a:xfrm>
            <a:off x="228600" y="88900"/>
            <a:ext cx="71120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b="1">
                <a:solidFill>
                  <a:srgbClr val="FFFFFF"/>
                </a:solidFill>
                <a:latin typeface="Calibri" panose="020F0502020204030204" pitchFamily="34" charset="0"/>
              </a:rPr>
              <a:t>Pilar 5 - Análisis de requerimientos y DRF</a:t>
            </a:r>
            <a:endParaRPr lang="es-SV" b="1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D82B2F-6724-4253-99CF-C132DDB29822}"/>
              </a:ext>
            </a:extLst>
          </p:cNvPr>
          <p:cNvSpPr txBox="1"/>
          <p:nvPr/>
        </p:nvSpPr>
        <p:spPr>
          <a:xfrm>
            <a:off x="7493000" y="190500"/>
            <a:ext cx="13970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r"/>
            <a:r>
              <a:rPr lang="es-SV" sz="1100" b="1">
                <a:solidFill>
                  <a:srgbClr val="F5B800"/>
                </a:solidFill>
                <a:latin typeface="Calibri" panose="020F0502020204030204" pitchFamily="34" charset="0"/>
              </a:rPr>
              <a:t>PRODUCTO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581586-9E35-4511-99A4-8B5606105989}"/>
              </a:ext>
            </a:extLst>
          </p:cNvPr>
          <p:cNvSpPr txBox="1"/>
          <p:nvPr/>
        </p:nvSpPr>
        <p:spPr>
          <a:xfrm>
            <a:off x="228600" y="685800"/>
            <a:ext cx="8686800" cy="246221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000">
                <a:solidFill>
                  <a:srgbClr val="64748B"/>
                </a:solidFill>
                <a:latin typeface="Calibri" panose="020F0502020204030204" pitchFamily="34" charset="0"/>
              </a:rPr>
              <a:t>El DRF es el producto del análisis y se construye sobre procedimientos priorizados (Pilar 3 / DICA).</a:t>
            </a:r>
            <a:endParaRPr lang="es-SV" sz="10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EC7C32C-9D6D-47B7-9316-907B68FA02B0}"/>
              </a:ext>
            </a:extLst>
          </p:cNvPr>
          <p:cNvSpPr/>
          <p:nvPr/>
        </p:nvSpPr>
        <p:spPr>
          <a:xfrm>
            <a:off x="228600" y="952500"/>
            <a:ext cx="8686800" cy="609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2893581-7ACF-41DC-97C4-1FA2816E697F}"/>
              </a:ext>
            </a:extLst>
          </p:cNvPr>
          <p:cNvSpPr txBox="1"/>
          <p:nvPr/>
        </p:nvSpPr>
        <p:spPr>
          <a:xfrm>
            <a:off x="406400" y="1054100"/>
            <a:ext cx="8331200" cy="4001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000" b="1" dirty="0">
                <a:solidFill>
                  <a:srgbClr val="1E2D4E"/>
                </a:solidFill>
                <a:latin typeface="Calibri" panose="020F0502020204030204" pitchFamily="34" charset="0"/>
              </a:rPr>
              <a:t>Procedimientos (DICA)  →  Priorización DTI  →  DRF (análisis)  →  Desarrollo SGUEES</a:t>
            </a:r>
          </a:p>
          <a:p>
            <a:r>
              <a:rPr lang="es-MX" sz="1000" b="1" dirty="0">
                <a:solidFill>
                  <a:srgbClr val="1E2D4E"/>
                </a:solidFill>
                <a:latin typeface="Calibri" panose="020F0502020204030204" pitchFamily="34" charset="0"/>
              </a:rPr>
              <a:t>La documentación de Calidad alimenta el requerimiento funcional del ERP.</a:t>
            </a:r>
            <a:endParaRPr lang="es-SV" sz="1000" b="1" dirty="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34DD8B68-38C0-4600-AB58-286411218575}"/>
              </a:ext>
            </a:extLst>
          </p:cNvPr>
          <p:cNvSpPr/>
          <p:nvPr/>
        </p:nvSpPr>
        <p:spPr>
          <a:xfrm>
            <a:off x="228600" y="1727200"/>
            <a:ext cx="2667000" cy="2032000"/>
          </a:xfrm>
          <a:prstGeom prst="roundRect">
            <a:avLst>
              <a:gd name="adj" fmla="val 8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8715C38-5FFF-4387-8985-BD6E8B9F59EB}"/>
              </a:ext>
            </a:extLst>
          </p:cNvPr>
          <p:cNvSpPr/>
          <p:nvPr/>
        </p:nvSpPr>
        <p:spPr>
          <a:xfrm>
            <a:off x="228600" y="1727200"/>
            <a:ext cx="2667000" cy="762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D475FDB-203B-4686-84CC-2A1265813C7C}"/>
              </a:ext>
            </a:extLst>
          </p:cNvPr>
          <p:cNvSpPr txBox="1"/>
          <p:nvPr/>
        </p:nvSpPr>
        <p:spPr>
          <a:xfrm>
            <a:off x="406400" y="1905000"/>
            <a:ext cx="2311400" cy="276999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200" b="1">
                <a:solidFill>
                  <a:srgbClr val="1A3A6B"/>
                </a:solidFill>
                <a:latin typeface="Calibri" panose="020F0502020204030204" pitchFamily="34" charset="0"/>
              </a:rPr>
              <a:t>Criterios de prioridad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FAF2D0F-2B69-4247-A41A-463FDE211243}"/>
              </a:ext>
            </a:extLst>
          </p:cNvPr>
          <p:cNvSpPr txBox="1"/>
          <p:nvPr/>
        </p:nvSpPr>
        <p:spPr>
          <a:xfrm>
            <a:off x="406400" y="2235200"/>
            <a:ext cx="2311400" cy="1015663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Alineación estratégica</a:t>
            </a:r>
          </a:p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Impacto operativo</a:t>
            </a:r>
          </a:p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Número de usuarios</a:t>
            </a:r>
          </a:p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Frecuencia de uso</a:t>
            </a:r>
          </a:p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Dependencias</a:t>
            </a:r>
          </a:p>
          <a:p>
            <a:r>
              <a:rPr lang="es-SV" sz="1000">
                <a:solidFill>
                  <a:srgbClr val="1E2D4E"/>
                </a:solidFill>
                <a:latin typeface="Calibri" panose="020F0502020204030204" pitchFamily="34" charset="0"/>
              </a:rPr>
              <a:t>• Madurez documental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B7726CF3-972C-45DA-98C4-F3D44BD5C773}"/>
              </a:ext>
            </a:extLst>
          </p:cNvPr>
          <p:cNvSpPr/>
          <p:nvPr/>
        </p:nvSpPr>
        <p:spPr>
          <a:xfrm>
            <a:off x="3048000" y="1727200"/>
            <a:ext cx="5867400" cy="2032000"/>
          </a:xfrm>
          <a:prstGeom prst="roundRect">
            <a:avLst>
              <a:gd name="adj" fmla="val 8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726A219-1B95-4073-A3FD-7595D9258F06}"/>
              </a:ext>
            </a:extLst>
          </p:cNvPr>
          <p:cNvSpPr/>
          <p:nvPr/>
        </p:nvSpPr>
        <p:spPr>
          <a:xfrm>
            <a:off x="3048000" y="1727200"/>
            <a:ext cx="5867400" cy="762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4780289A-751B-4E00-9A66-C303C791BD7F}"/>
              </a:ext>
            </a:extLst>
          </p:cNvPr>
          <p:cNvSpPr txBox="1"/>
          <p:nvPr/>
        </p:nvSpPr>
        <p:spPr>
          <a:xfrm>
            <a:off x="3225800" y="1879600"/>
            <a:ext cx="5511800" cy="276999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200" b="1">
                <a:solidFill>
                  <a:srgbClr val="1A3A6B"/>
                </a:solidFill>
                <a:latin typeface="Calibri" panose="020F0502020204030204" pitchFamily="34" charset="0"/>
              </a:rPr>
              <a:t>Prioridad A — procedimientos base del MVP</a:t>
            </a:r>
            <a:endParaRPr lang="es-SV" sz="1200" b="1">
              <a:solidFill>
                <a:srgbClr val="1A3A6B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A12C5DD-5F6E-406E-A76E-3A377E370907}"/>
              </a:ext>
            </a:extLst>
          </p:cNvPr>
          <p:cNvSpPr txBox="1"/>
          <p:nvPr/>
        </p:nvSpPr>
        <p:spPr>
          <a:xfrm>
            <a:off x="3225800" y="2159000"/>
            <a:ext cx="5511800" cy="507831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900">
                <a:solidFill>
                  <a:srgbClr val="1E2D4E"/>
                </a:solidFill>
                <a:latin typeface="Calibri" panose="020F0502020204030204" pitchFamily="34" charset="0"/>
              </a:rPr>
              <a:t>TH: Selección/contratación · Descriptor · Expediente · Planillas</a:t>
            </a:r>
          </a:p>
          <a:p>
            <a:r>
              <a:rPr lang="es-MX" sz="900">
                <a:solidFill>
                  <a:srgbClr val="1E2D4E"/>
                </a:solidFill>
                <a:latin typeface="Calibri" panose="020F0502020204030204" pitchFamily="34" charset="0"/>
              </a:rPr>
              <a:t>Finanzas: Contabilidad · Caja/Bancos · Pagos · CxP · Conciliación</a:t>
            </a:r>
          </a:p>
          <a:p>
            <a:r>
              <a:rPr lang="es-MX" sz="900">
                <a:solidFill>
                  <a:srgbClr val="1E2D4E"/>
                </a:solidFill>
                <a:latin typeface="Calibri" panose="020F0502020204030204" pitchFamily="34" charset="0"/>
              </a:rPr>
              <a:t>Académico: Admisión · Matrícula · Socioeconómico</a:t>
            </a:r>
            <a:endParaRPr lang="es-SV" sz="90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9E3A98E-EADA-4981-ACE5-589D5DC59602}"/>
              </a:ext>
            </a:extLst>
          </p:cNvPr>
          <p:cNvSpPr txBox="1"/>
          <p:nvPr/>
        </p:nvSpPr>
        <p:spPr>
          <a:xfrm>
            <a:off x="3225800" y="2844800"/>
            <a:ext cx="55118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>
                <a:solidFill>
                  <a:srgbClr val="64748B"/>
                </a:solidFill>
                <a:latin typeface="Calibri" panose="020F0502020204030204" pitchFamily="34" charset="0"/>
              </a:rPr>
              <a:t>Avance estimado de módulos macro por área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E1AA5BB5-52DA-4ECF-BCD5-0C40F12CD54A}"/>
              </a:ext>
            </a:extLst>
          </p:cNvPr>
          <p:cNvSpPr/>
          <p:nvPr/>
        </p:nvSpPr>
        <p:spPr>
          <a:xfrm>
            <a:off x="3225800" y="3073400"/>
            <a:ext cx="1701800" cy="5461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F17BEEE-A49E-40EF-B096-8A795D2C0C8F}"/>
              </a:ext>
            </a:extLst>
          </p:cNvPr>
          <p:cNvSpPr/>
          <p:nvPr/>
        </p:nvSpPr>
        <p:spPr>
          <a:xfrm>
            <a:off x="3225800" y="3073400"/>
            <a:ext cx="1701800" cy="508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0D071CA1-9F4B-4E92-B891-6035B7EAD50A}"/>
              </a:ext>
            </a:extLst>
          </p:cNvPr>
          <p:cNvSpPr txBox="1"/>
          <p:nvPr/>
        </p:nvSpPr>
        <p:spPr>
          <a:xfrm>
            <a:off x="3289300" y="3162300"/>
            <a:ext cx="15748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b="1">
                <a:solidFill>
                  <a:srgbClr val="64748B"/>
                </a:solidFill>
                <a:latin typeface="Calibri" panose="020F0502020204030204" pitchFamily="34" charset="0"/>
              </a:rPr>
              <a:t>Talento Humano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2BCD111-4914-417E-9002-89929A332434}"/>
              </a:ext>
            </a:extLst>
          </p:cNvPr>
          <p:cNvSpPr txBox="1"/>
          <p:nvPr/>
        </p:nvSpPr>
        <p:spPr>
          <a:xfrm>
            <a:off x="3289300" y="3327400"/>
            <a:ext cx="1574800" cy="323165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1500" b="1">
                <a:solidFill>
                  <a:srgbClr val="1A3A6B"/>
                </a:solidFill>
                <a:latin typeface="Calibri" panose="020F0502020204030204" pitchFamily="34" charset="0"/>
              </a:rPr>
              <a:t>8%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313CFBFD-6209-4DE5-BA1D-F901363E7C4F}"/>
              </a:ext>
            </a:extLst>
          </p:cNvPr>
          <p:cNvSpPr/>
          <p:nvPr/>
        </p:nvSpPr>
        <p:spPr>
          <a:xfrm>
            <a:off x="5003800" y="3073400"/>
            <a:ext cx="1803400" cy="5461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342DC301-323C-4555-8BE9-25AD042D91C7}"/>
              </a:ext>
            </a:extLst>
          </p:cNvPr>
          <p:cNvSpPr/>
          <p:nvPr/>
        </p:nvSpPr>
        <p:spPr>
          <a:xfrm>
            <a:off x="5003800" y="3073400"/>
            <a:ext cx="1803400" cy="508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EA26C21-8237-4822-BC54-13536E919560}"/>
              </a:ext>
            </a:extLst>
          </p:cNvPr>
          <p:cNvSpPr txBox="1"/>
          <p:nvPr/>
        </p:nvSpPr>
        <p:spPr>
          <a:xfrm>
            <a:off x="5067300" y="3162300"/>
            <a:ext cx="16764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b="1">
                <a:solidFill>
                  <a:srgbClr val="64748B"/>
                </a:solidFill>
                <a:latin typeface="Calibri" panose="020F0502020204030204" pitchFamily="34" charset="0"/>
              </a:rPr>
              <a:t>Contabilidad y Finanzas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9701490-E280-4116-8861-2C65E0833143}"/>
              </a:ext>
            </a:extLst>
          </p:cNvPr>
          <p:cNvSpPr txBox="1"/>
          <p:nvPr/>
        </p:nvSpPr>
        <p:spPr>
          <a:xfrm>
            <a:off x="5067300" y="3327400"/>
            <a:ext cx="1676400" cy="323165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1500" b="1">
                <a:solidFill>
                  <a:srgbClr val="1A3A6B"/>
                </a:solidFill>
                <a:latin typeface="Calibri" panose="020F0502020204030204" pitchFamily="34" charset="0"/>
              </a:rPr>
              <a:t>6%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6AD4E419-68C9-4E71-88FB-FD80DE6479A6}"/>
              </a:ext>
            </a:extLst>
          </p:cNvPr>
          <p:cNvSpPr/>
          <p:nvPr/>
        </p:nvSpPr>
        <p:spPr>
          <a:xfrm>
            <a:off x="6883400" y="3073400"/>
            <a:ext cx="1854200" cy="5461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6E83C4B-577A-4164-B8B3-038F7A38064C}"/>
              </a:ext>
            </a:extLst>
          </p:cNvPr>
          <p:cNvSpPr/>
          <p:nvPr/>
        </p:nvSpPr>
        <p:spPr>
          <a:xfrm>
            <a:off x="6883400" y="3073400"/>
            <a:ext cx="1854200" cy="508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CB2DD58-51F3-47B9-ABFE-47A160373F3B}"/>
              </a:ext>
            </a:extLst>
          </p:cNvPr>
          <p:cNvSpPr txBox="1"/>
          <p:nvPr/>
        </p:nvSpPr>
        <p:spPr>
          <a:xfrm>
            <a:off x="6946900" y="3162300"/>
            <a:ext cx="17272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b="1">
                <a:solidFill>
                  <a:srgbClr val="64748B"/>
                </a:solidFill>
                <a:latin typeface="Calibri" panose="020F0502020204030204" pitchFamily="34" charset="0"/>
              </a:rPr>
              <a:t>Académico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F890F47-97D6-4E6F-A6A8-EB8AC353F257}"/>
              </a:ext>
            </a:extLst>
          </p:cNvPr>
          <p:cNvSpPr txBox="1"/>
          <p:nvPr/>
        </p:nvSpPr>
        <p:spPr>
          <a:xfrm>
            <a:off x="6946900" y="3327400"/>
            <a:ext cx="1727200" cy="323165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1500" b="1">
                <a:solidFill>
                  <a:srgbClr val="1A3A6B"/>
                </a:solidFill>
                <a:latin typeface="Calibri" panose="020F0502020204030204" pitchFamily="34" charset="0"/>
              </a:rPr>
              <a:t>4%</a:t>
            </a:r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3921D324-D090-40E8-B26B-B4619566C89F}"/>
              </a:ext>
            </a:extLst>
          </p:cNvPr>
          <p:cNvSpPr/>
          <p:nvPr/>
        </p:nvSpPr>
        <p:spPr>
          <a:xfrm>
            <a:off x="228600" y="3937000"/>
            <a:ext cx="5715000" cy="9652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14DEEFB-1D68-4B97-8812-01678E750D5A}"/>
              </a:ext>
            </a:extLst>
          </p:cNvPr>
          <p:cNvSpPr/>
          <p:nvPr/>
        </p:nvSpPr>
        <p:spPr>
          <a:xfrm>
            <a:off x="228600" y="3937000"/>
            <a:ext cx="76200" cy="9652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7842284-6AEA-42B9-A5B3-96F60D3E56FE}"/>
              </a:ext>
            </a:extLst>
          </p:cNvPr>
          <p:cNvSpPr txBox="1"/>
          <p:nvPr/>
        </p:nvSpPr>
        <p:spPr>
          <a:xfrm>
            <a:off x="406400" y="4038600"/>
            <a:ext cx="53340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 b="1">
                <a:solidFill>
                  <a:srgbClr val="1A3A6B"/>
                </a:solidFill>
                <a:latin typeface="Calibri" panose="020F0502020204030204" pitchFamily="34" charset="0"/>
              </a:rPr>
              <a:t>Ejemplo de concordancia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03F6526-654A-4A0B-89BE-08D7394C7A70}"/>
              </a:ext>
            </a:extLst>
          </p:cNvPr>
          <p:cNvSpPr txBox="1"/>
          <p:nvPr/>
        </p:nvSpPr>
        <p:spPr>
          <a:xfrm>
            <a:off x="406400" y="4305300"/>
            <a:ext cx="5334000" cy="4001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000">
                <a:solidFill>
                  <a:srgbClr val="1E2D4E"/>
                </a:solidFill>
                <a:latin typeface="Calibri" panose="020F0502020204030204" pitchFamily="34" charset="0"/>
              </a:rPr>
              <a:t>Descriptor y perfil de puesto → DRF funcional → pantallas/catálogos SGUEES. Esto evita desarrollar sin base de proceso.</a:t>
            </a:r>
            <a:endParaRPr lang="es-SV" sz="100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ctángulo: esquinas redondeadas 33">
            <a:hlinkClick r:id="rId2"/>
            <a:extLst>
              <a:ext uri="{FF2B5EF4-FFF2-40B4-BE49-F238E27FC236}">
                <a16:creationId xmlns:a16="http://schemas.microsoft.com/office/drawing/2014/main" id="{86CC3276-C185-4F35-B429-7597557CFA7C}"/>
              </a:ext>
            </a:extLst>
          </p:cNvPr>
          <p:cNvSpPr/>
          <p:nvPr/>
        </p:nvSpPr>
        <p:spPr>
          <a:xfrm>
            <a:off x="6172200" y="4140200"/>
            <a:ext cx="2743200" cy="457200"/>
          </a:xfrm>
          <a:prstGeom prst="roundRect">
            <a:avLst>
              <a:gd name="adj" fmla="val 18000"/>
            </a:avLst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100" b="1">
                <a:solidFill>
                  <a:srgbClr val="FFFFFF"/>
                </a:solidFill>
                <a:latin typeface="Calibri" panose="020F0502020204030204" pitchFamily="34" charset="0"/>
              </a:rPr>
              <a:t>Abrir DRF Descriptor</a:t>
            </a:r>
          </a:p>
        </p:txBody>
      </p:sp>
    </p:spTree>
    <p:extLst>
      <p:ext uri="{BB962C8B-B14F-4D97-AF65-F5344CB8AC3E}">
        <p14:creationId xmlns:p14="http://schemas.microsoft.com/office/powerpoint/2010/main" val="67386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5C33D583-4340-434F-8F28-0B3284E5EBBB}"/>
              </a:ext>
            </a:extLst>
          </p:cNvPr>
          <p:cNvSpPr/>
          <p:nvPr/>
        </p:nvSpPr>
        <p:spPr>
          <a:xfrm>
            <a:off x="0" y="0"/>
            <a:ext cx="9144000" cy="6096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DE597A-F0D5-4B0C-A173-07E3AB2F7679}"/>
              </a:ext>
            </a:extLst>
          </p:cNvPr>
          <p:cNvSpPr txBox="1"/>
          <p:nvPr/>
        </p:nvSpPr>
        <p:spPr>
          <a:xfrm>
            <a:off x="228600" y="76200"/>
            <a:ext cx="63500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b="1" noProof="0">
                <a:solidFill>
                  <a:srgbClr val="FFFFFF"/>
                </a:solidFill>
                <a:latin typeface="Calibri" panose="020F0502020204030204" pitchFamily="34" charset="0"/>
              </a:rPr>
              <a:t>Pilar 5 - ERP Institucional (SGUEES)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7A304F-0448-42D7-B1FD-D73A09A4497B}"/>
              </a:ext>
            </a:extLst>
          </p:cNvPr>
          <p:cNvSpPr txBox="1"/>
          <p:nvPr/>
        </p:nvSpPr>
        <p:spPr>
          <a:xfrm>
            <a:off x="6604000" y="177800"/>
            <a:ext cx="2286000" cy="276999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r"/>
            <a:r>
              <a:rPr lang="es-SV" sz="1200" b="1" noProof="0">
                <a:solidFill>
                  <a:srgbClr val="F5B800"/>
                </a:solidFill>
                <a:latin typeface="Calibri" panose="020F0502020204030204" pitchFamily="34" charset="0"/>
              </a:rPr>
              <a:t>T2 · Abr-Jun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4F87412-D6B2-4770-99A2-BB63E89022FC}"/>
              </a:ext>
            </a:extLst>
          </p:cNvPr>
          <p:cNvSpPr txBox="1"/>
          <p:nvPr/>
        </p:nvSpPr>
        <p:spPr>
          <a:xfrm>
            <a:off x="228600" y="635000"/>
            <a:ext cx="8636000" cy="246221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 noProof="0">
                <a:solidFill>
                  <a:srgbClr val="64748B"/>
                </a:solidFill>
                <a:latin typeface="Calibri" panose="020F0502020204030204" pitchFamily="34" charset="0"/>
              </a:rPr>
              <a:t>Avance por fase (T1 vs T2)  ·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9FC7017-F71D-4E32-89D2-1AF6C02BE48D}"/>
              </a:ext>
            </a:extLst>
          </p:cNvPr>
          <p:cNvSpPr/>
          <p:nvPr/>
        </p:nvSpPr>
        <p:spPr>
          <a:xfrm>
            <a:off x="228600" y="889000"/>
            <a:ext cx="2895600" cy="8636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95ABAC3-DF56-43DD-A815-2B7742169A6C}"/>
              </a:ext>
            </a:extLst>
          </p:cNvPr>
          <p:cNvSpPr/>
          <p:nvPr/>
        </p:nvSpPr>
        <p:spPr>
          <a:xfrm>
            <a:off x="228600" y="889000"/>
            <a:ext cx="76200" cy="8636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826E51B-0E14-4110-8E24-991E0CB7DDC8}"/>
              </a:ext>
            </a:extLst>
          </p:cNvPr>
          <p:cNvSpPr txBox="1"/>
          <p:nvPr/>
        </p:nvSpPr>
        <p:spPr>
          <a:xfrm>
            <a:off x="406400" y="939800"/>
            <a:ext cx="25400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800" b="1" noProof="0">
                <a:solidFill>
                  <a:srgbClr val="2B5BA8"/>
                </a:solidFill>
                <a:latin typeface="Calibri" panose="020F0502020204030204" pitchFamily="34" charset="0"/>
              </a:rPr>
              <a:t>FASES ABIERTAS EN T2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BE2166C-FEEE-47D1-9375-1447A87E49BF}"/>
              </a:ext>
            </a:extLst>
          </p:cNvPr>
          <p:cNvSpPr txBox="1"/>
          <p:nvPr/>
        </p:nvSpPr>
        <p:spPr>
          <a:xfrm>
            <a:off x="406400" y="1143000"/>
            <a:ext cx="1524000" cy="492443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2600" b="1" noProof="0">
                <a:solidFill>
                  <a:srgbClr val="1A3A6B"/>
                </a:solidFill>
                <a:latin typeface="Calibri" panose="020F0502020204030204" pitchFamily="34" charset="0"/>
              </a:rPr>
              <a:t>48%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9C4590B-D6E9-4CB1-8852-FF3668F9204E}"/>
              </a:ext>
            </a:extLst>
          </p:cNvPr>
          <p:cNvSpPr txBox="1"/>
          <p:nvPr/>
        </p:nvSpPr>
        <p:spPr>
          <a:xfrm>
            <a:off x="1115122" y="1244600"/>
            <a:ext cx="1869378" cy="33855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Promedio de la fase Identificación + Análisis + Diseño + Desarrollo.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A265654-D272-4F34-88AE-55129DBC01C4}"/>
              </a:ext>
            </a:extLst>
          </p:cNvPr>
          <p:cNvSpPr/>
          <p:nvPr/>
        </p:nvSpPr>
        <p:spPr>
          <a:xfrm>
            <a:off x="3251200" y="889000"/>
            <a:ext cx="2895600" cy="8636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54CF2B1-6B2C-42C3-911E-D04C435886E2}"/>
              </a:ext>
            </a:extLst>
          </p:cNvPr>
          <p:cNvSpPr/>
          <p:nvPr/>
        </p:nvSpPr>
        <p:spPr>
          <a:xfrm>
            <a:off x="3251200" y="889000"/>
            <a:ext cx="76200" cy="8636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AF977BF-9581-4AA1-B7D6-5A36876E1375}"/>
              </a:ext>
            </a:extLst>
          </p:cNvPr>
          <p:cNvSpPr txBox="1"/>
          <p:nvPr/>
        </p:nvSpPr>
        <p:spPr>
          <a:xfrm>
            <a:off x="3429000" y="939800"/>
            <a:ext cx="25400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800" b="1" noProof="0">
                <a:solidFill>
                  <a:srgbClr val="0D7490"/>
                </a:solidFill>
                <a:latin typeface="Calibri" panose="020F0502020204030204" pitchFamily="34" charset="0"/>
              </a:rPr>
              <a:t>IDENTIFICACIÓN (DICA)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50FB548-AB34-4F32-8134-7B1AA2833A6F}"/>
              </a:ext>
            </a:extLst>
          </p:cNvPr>
          <p:cNvSpPr txBox="1"/>
          <p:nvPr/>
        </p:nvSpPr>
        <p:spPr>
          <a:xfrm>
            <a:off x="3429000" y="1143000"/>
            <a:ext cx="1054100" cy="492443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2600" b="1" noProof="0">
                <a:solidFill>
                  <a:srgbClr val="1A3A6B"/>
                </a:solidFill>
                <a:latin typeface="Calibri" panose="020F0502020204030204" pitchFamily="34" charset="0"/>
              </a:rPr>
              <a:t>89.5%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C016EE3-2643-4BDD-A840-58B5E7B0A9BA}"/>
              </a:ext>
            </a:extLst>
          </p:cNvPr>
          <p:cNvSpPr txBox="1"/>
          <p:nvPr/>
        </p:nvSpPr>
        <p:spPr>
          <a:xfrm>
            <a:off x="4610100" y="1244600"/>
            <a:ext cx="14224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 dirty="0">
                <a:solidFill>
                  <a:srgbClr val="64748B"/>
                </a:solidFill>
                <a:latin typeface="Calibri" panose="020F0502020204030204" pitchFamily="34" charset="0"/>
              </a:rPr>
              <a:t>Procedimientos. Priorizados por DTI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BCB0FA2B-D140-4BD0-BA7A-0EC2678A3EEE}"/>
              </a:ext>
            </a:extLst>
          </p:cNvPr>
          <p:cNvSpPr/>
          <p:nvPr/>
        </p:nvSpPr>
        <p:spPr>
          <a:xfrm>
            <a:off x="6273800" y="889000"/>
            <a:ext cx="2641600" cy="8636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49775DE-C36F-4F57-AAC8-76B5574E6B84}"/>
              </a:ext>
            </a:extLst>
          </p:cNvPr>
          <p:cNvSpPr/>
          <p:nvPr/>
        </p:nvSpPr>
        <p:spPr>
          <a:xfrm>
            <a:off x="6273800" y="889000"/>
            <a:ext cx="76200" cy="8636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FC2391B-EFFA-4FE2-B001-42966BBCE28E}"/>
              </a:ext>
            </a:extLst>
          </p:cNvPr>
          <p:cNvSpPr txBox="1"/>
          <p:nvPr/>
        </p:nvSpPr>
        <p:spPr>
          <a:xfrm>
            <a:off x="6451600" y="939800"/>
            <a:ext cx="22860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800" b="1" noProof="0">
                <a:solidFill>
                  <a:srgbClr val="1A3A6B"/>
                </a:solidFill>
                <a:latin typeface="Calibri" panose="020F0502020204030204" pitchFamily="34" charset="0"/>
              </a:rPr>
              <a:t>PROYECTO TOTAL → 2028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1ADD654-1FE0-4CEE-84F3-DF0A303DAB3E}"/>
              </a:ext>
            </a:extLst>
          </p:cNvPr>
          <p:cNvSpPr txBox="1"/>
          <p:nvPr/>
        </p:nvSpPr>
        <p:spPr>
          <a:xfrm>
            <a:off x="6451600" y="1143000"/>
            <a:ext cx="1143000" cy="492443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2600" b="1" noProof="0">
                <a:solidFill>
                  <a:srgbClr val="1A3A6B"/>
                </a:solidFill>
                <a:latin typeface="Calibri" panose="020F0502020204030204" pitchFamily="34" charset="0"/>
              </a:rPr>
              <a:t>17%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5BBD6DB-21F5-470E-AFA2-C4FB8A210053}"/>
              </a:ext>
            </a:extLst>
          </p:cNvPr>
          <p:cNvSpPr txBox="1"/>
          <p:nvPr/>
        </p:nvSpPr>
        <p:spPr>
          <a:xfrm>
            <a:off x="7493000" y="1244600"/>
            <a:ext cx="12700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 dirty="0">
                <a:solidFill>
                  <a:srgbClr val="64748B"/>
                </a:solidFill>
                <a:latin typeface="Calibri" panose="020F0502020204030204" pitchFamily="34" charset="0"/>
              </a:rPr>
              <a:t>7 fases ciclo de vida</a:t>
            </a:r>
          </a:p>
        </p:txBody>
      </p:sp>
      <p:graphicFrame>
        <p:nvGraphicFramePr>
          <p:cNvPr id="22" name="Gráfico 21">
            <a:extLst>
              <a:ext uri="{FF2B5EF4-FFF2-40B4-BE49-F238E27FC236}">
                <a16:creationId xmlns:a16="http://schemas.microsoft.com/office/drawing/2014/main" id="{A356576B-139B-4F28-9534-0E38FBB76E3B}"/>
              </a:ext>
            </a:extLst>
          </p:cNvPr>
          <p:cNvGraphicFramePr/>
          <p:nvPr/>
        </p:nvGraphicFramePr>
        <p:xfrm>
          <a:off x="127000" y="1841500"/>
          <a:ext cx="5588000" cy="273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49778D08-7CF0-4386-882A-91EA6E47006C}"/>
              </a:ext>
            </a:extLst>
          </p:cNvPr>
          <p:cNvSpPr/>
          <p:nvPr/>
        </p:nvSpPr>
        <p:spPr>
          <a:xfrm>
            <a:off x="5715000" y="1905000"/>
            <a:ext cx="3200400" cy="26035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F888EC99-4EC2-400F-9B1B-4F9503AD22F3}"/>
              </a:ext>
            </a:extLst>
          </p:cNvPr>
          <p:cNvSpPr/>
          <p:nvPr/>
        </p:nvSpPr>
        <p:spPr>
          <a:xfrm>
            <a:off x="5715000" y="1905000"/>
            <a:ext cx="3200400" cy="1016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5333B70-A810-4170-AA63-D21B31E52213}"/>
              </a:ext>
            </a:extLst>
          </p:cNvPr>
          <p:cNvSpPr txBox="1"/>
          <p:nvPr/>
        </p:nvSpPr>
        <p:spPr>
          <a:xfrm>
            <a:off x="5867400" y="22239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 noProof="0">
                <a:solidFill>
                  <a:srgbClr val="0D7490"/>
                </a:solidFill>
                <a:latin typeface="Calibri" panose="020F0502020204030204" pitchFamily="34" charset="0"/>
              </a:rPr>
              <a:t>Identificación de procedimientos 89.5%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1F31411-E31B-49AE-BAB8-3A36A84C4093}"/>
              </a:ext>
            </a:extLst>
          </p:cNvPr>
          <p:cNvSpPr txBox="1"/>
          <p:nvPr/>
        </p:nvSpPr>
        <p:spPr>
          <a:xfrm>
            <a:off x="5867400" y="24017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>
                <a:solidFill>
                  <a:srgbClr val="1E2D4E"/>
                </a:solidFill>
                <a:latin typeface="Calibri" panose="020F0502020204030204" pitchFamily="34" charset="0"/>
              </a:rPr>
              <a:t>Dato DICA. No es avance de módulos.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B34F49B-157F-401E-A1C2-B11921F081E1}"/>
              </a:ext>
            </a:extLst>
          </p:cNvPr>
          <p:cNvSpPr txBox="1"/>
          <p:nvPr/>
        </p:nvSpPr>
        <p:spPr>
          <a:xfrm>
            <a:off x="5867400" y="27319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 noProof="0">
                <a:solidFill>
                  <a:srgbClr val="2B5BA8"/>
                </a:solidFill>
                <a:latin typeface="Calibri" panose="020F0502020204030204" pitchFamily="34" charset="0"/>
              </a:rPr>
              <a:t>Análisis de requerimientos 8%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8A5ADABD-6D81-4559-B3F6-5A15E263B073}"/>
              </a:ext>
            </a:extLst>
          </p:cNvPr>
          <p:cNvSpPr txBox="1"/>
          <p:nvPr/>
        </p:nvSpPr>
        <p:spPr>
          <a:xfrm>
            <a:off x="5867400" y="29097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>
                <a:solidFill>
                  <a:srgbClr val="1E2D4E"/>
                </a:solidFill>
                <a:latin typeface="Calibri" panose="020F0502020204030204" pitchFamily="34" charset="0"/>
              </a:rPr>
              <a:t>3 Áreas en Proceso abiertos.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FBE1141-8B12-4BA8-B025-B649B7AA71A2}"/>
              </a:ext>
            </a:extLst>
          </p:cNvPr>
          <p:cNvSpPr txBox="1"/>
          <p:nvPr/>
        </p:nvSpPr>
        <p:spPr>
          <a:xfrm>
            <a:off x="5867400" y="32399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 noProof="0">
                <a:solidFill>
                  <a:srgbClr val="F5B800"/>
                </a:solidFill>
                <a:latin typeface="Calibri" panose="020F0502020204030204" pitchFamily="34" charset="0"/>
              </a:rPr>
              <a:t>Diseño y planificación 85%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8508C091-7C26-4BB7-ABAE-BD09EE2A04A2}"/>
              </a:ext>
            </a:extLst>
          </p:cNvPr>
          <p:cNvSpPr txBox="1"/>
          <p:nvPr/>
        </p:nvSpPr>
        <p:spPr>
          <a:xfrm>
            <a:off x="5867400" y="3417730"/>
            <a:ext cx="2895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>
                <a:solidFill>
                  <a:srgbClr val="1E2D4E"/>
                </a:solidFill>
                <a:latin typeface="Calibri" panose="020F0502020204030204" pitchFamily="34" charset="0"/>
              </a:rPr>
              <a:t>Arquitectura, seguridad y estándar base.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99D2728-806B-4523-868F-C9EF16282E5E}"/>
              </a:ext>
            </a:extLst>
          </p:cNvPr>
          <p:cNvSpPr txBox="1"/>
          <p:nvPr/>
        </p:nvSpPr>
        <p:spPr>
          <a:xfrm>
            <a:off x="5867400" y="3747930"/>
            <a:ext cx="2895600" cy="246221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 b="1" noProof="0">
                <a:solidFill>
                  <a:srgbClr val="1A3A6B"/>
                </a:solidFill>
                <a:latin typeface="Calibri" panose="020F0502020204030204" pitchFamily="34" charset="0"/>
              </a:rPr>
              <a:t>Desarrollo 8%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C6B910A-224D-4E9A-B2D0-71DF1F44A05F}"/>
              </a:ext>
            </a:extLst>
          </p:cNvPr>
          <p:cNvSpPr txBox="1"/>
          <p:nvPr/>
        </p:nvSpPr>
        <p:spPr>
          <a:xfrm>
            <a:off x="5867400" y="3925730"/>
            <a:ext cx="2895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noProof="0">
                <a:solidFill>
                  <a:srgbClr val="1E2D4E"/>
                </a:solidFill>
                <a:latin typeface="Calibri" panose="020F0502020204030204" pitchFamily="34" charset="0"/>
              </a:rPr>
              <a:t>Base y catálogos visibles; flujos de negocio aún en construcción.</a:t>
            </a:r>
          </a:p>
        </p:txBody>
      </p:sp>
    </p:spTree>
    <p:extLst>
      <p:ext uri="{BB962C8B-B14F-4D97-AF65-F5344CB8AC3E}">
        <p14:creationId xmlns:p14="http://schemas.microsoft.com/office/powerpoint/2010/main" val="417354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DD07874-7430-479F-A708-4A7590745A1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C2BBF9-585A-483C-9A59-651B6C612121}"/>
              </a:ext>
            </a:extLst>
          </p:cNvPr>
          <p:cNvSpPr/>
          <p:nvPr/>
        </p:nvSpPr>
        <p:spPr>
          <a:xfrm>
            <a:off x="0" y="0"/>
            <a:ext cx="9144000" cy="5842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12EBDF-A57D-4E32-9761-8358347EC3F1}"/>
              </a:ext>
            </a:extLst>
          </p:cNvPr>
          <p:cNvSpPr txBox="1"/>
          <p:nvPr/>
        </p:nvSpPr>
        <p:spPr>
          <a:xfrm>
            <a:off x="203200" y="63500"/>
            <a:ext cx="63500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b="1" noProof="0">
                <a:solidFill>
                  <a:srgbClr val="FFFFFF"/>
                </a:solidFill>
                <a:latin typeface="Calibri" panose="020F0502020204030204" pitchFamily="34" charset="0"/>
              </a:rPr>
              <a:t>Pilar 5 - Ruta del ERP hacia 2028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BFE97B2-0B2D-4648-B18B-01D832D647AD}"/>
              </a:ext>
            </a:extLst>
          </p:cNvPr>
          <p:cNvSpPr txBox="1"/>
          <p:nvPr/>
        </p:nvSpPr>
        <p:spPr>
          <a:xfrm>
            <a:off x="6604000" y="127000"/>
            <a:ext cx="2286000" cy="33855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r"/>
            <a:r>
              <a:rPr lang="es-SV" sz="1600" b="1" noProof="0">
                <a:solidFill>
                  <a:srgbClr val="F5B800"/>
                </a:solidFill>
                <a:latin typeface="Calibri" panose="020F0502020204030204" pitchFamily="34" charset="0"/>
              </a:rPr>
              <a:t>Total 17%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15831079-004C-4CD0-A26A-41F617DA2C13}"/>
              </a:ext>
            </a:extLst>
          </p:cNvPr>
          <p:cNvSpPr/>
          <p:nvPr/>
        </p:nvSpPr>
        <p:spPr>
          <a:xfrm>
            <a:off x="1524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EE351B6-6B56-4423-8D0C-57D77C6FACE7}"/>
              </a:ext>
            </a:extLst>
          </p:cNvPr>
          <p:cNvSpPr/>
          <p:nvPr/>
        </p:nvSpPr>
        <p:spPr>
          <a:xfrm>
            <a:off x="152400" y="863600"/>
            <a:ext cx="1447800" cy="635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3248A0B-A2F4-4B9C-9EBC-FCBABC1FCEC2}"/>
              </a:ext>
            </a:extLst>
          </p:cNvPr>
          <p:cNvSpPr txBox="1"/>
          <p:nvPr/>
        </p:nvSpPr>
        <p:spPr>
          <a:xfrm>
            <a:off x="190500" y="9652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Análisis de</a:t>
            </a:r>
          </a:p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requerimientos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4C6D60B-31A2-4142-8224-1740B7484DAD}"/>
              </a:ext>
            </a:extLst>
          </p:cNvPr>
          <p:cNvSpPr txBox="1"/>
          <p:nvPr/>
        </p:nvSpPr>
        <p:spPr>
          <a:xfrm>
            <a:off x="1905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8%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3BDEEEA-F834-43AA-899A-FE1EEE05F222}"/>
              </a:ext>
            </a:extLst>
          </p:cNvPr>
          <p:cNvSpPr txBox="1"/>
          <p:nvPr/>
        </p:nvSpPr>
        <p:spPr>
          <a:xfrm>
            <a:off x="1905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2026-2028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ADB9D69-702F-4E10-8D47-478A5BE299CA}"/>
              </a:ext>
            </a:extLst>
          </p:cNvPr>
          <p:cNvSpPr/>
          <p:nvPr/>
        </p:nvSpPr>
        <p:spPr>
          <a:xfrm>
            <a:off x="16383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8E704DE-E009-4D9F-A2B4-537F102E6BC9}"/>
              </a:ext>
            </a:extLst>
          </p:cNvPr>
          <p:cNvSpPr/>
          <p:nvPr/>
        </p:nvSpPr>
        <p:spPr>
          <a:xfrm>
            <a:off x="1638300" y="863600"/>
            <a:ext cx="1447800" cy="635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8E9B69-530C-4790-A1C6-3078A464B1E2}"/>
              </a:ext>
            </a:extLst>
          </p:cNvPr>
          <p:cNvSpPr txBox="1"/>
          <p:nvPr/>
        </p:nvSpPr>
        <p:spPr>
          <a:xfrm>
            <a:off x="1676400" y="9652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Diseño y</a:t>
            </a:r>
          </a:p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planificación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30AE8E-593F-4E0F-8EDC-D93741FB350D}"/>
              </a:ext>
            </a:extLst>
          </p:cNvPr>
          <p:cNvSpPr txBox="1"/>
          <p:nvPr/>
        </p:nvSpPr>
        <p:spPr>
          <a:xfrm>
            <a:off x="16764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85%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030E8E47-A352-4760-BF3D-5F0755F143BD}"/>
              </a:ext>
            </a:extLst>
          </p:cNvPr>
          <p:cNvSpPr txBox="1"/>
          <p:nvPr/>
        </p:nvSpPr>
        <p:spPr>
          <a:xfrm>
            <a:off x="16764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Ya avanzado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D763D45F-230C-45BD-9B6F-550F7358BB3F}"/>
              </a:ext>
            </a:extLst>
          </p:cNvPr>
          <p:cNvSpPr/>
          <p:nvPr/>
        </p:nvSpPr>
        <p:spPr>
          <a:xfrm>
            <a:off x="31242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309B44D-9B1E-41B7-A717-03E8FFE311CD}"/>
              </a:ext>
            </a:extLst>
          </p:cNvPr>
          <p:cNvSpPr/>
          <p:nvPr/>
        </p:nvSpPr>
        <p:spPr>
          <a:xfrm>
            <a:off x="3124200" y="863600"/>
            <a:ext cx="1447800" cy="635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30DAFAC-07B9-4DE1-A4C0-6649D97DA664}"/>
              </a:ext>
            </a:extLst>
          </p:cNvPr>
          <p:cNvSpPr txBox="1"/>
          <p:nvPr/>
        </p:nvSpPr>
        <p:spPr>
          <a:xfrm>
            <a:off x="3162300" y="965200"/>
            <a:ext cx="1371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Desarrollo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DE2C3C9F-8F89-4FA9-BB10-EC17961C3E98}"/>
              </a:ext>
            </a:extLst>
          </p:cNvPr>
          <p:cNvSpPr txBox="1"/>
          <p:nvPr/>
        </p:nvSpPr>
        <p:spPr>
          <a:xfrm>
            <a:off x="31623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8%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1F9A3AC-78D8-4E77-B820-0ABD987FE204}"/>
              </a:ext>
            </a:extLst>
          </p:cNvPr>
          <p:cNvSpPr txBox="1"/>
          <p:nvPr/>
        </p:nvSpPr>
        <p:spPr>
          <a:xfrm>
            <a:off x="31623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2026-2028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A31EC2F9-35A3-4222-9DEF-5A6D27E3A6DA}"/>
              </a:ext>
            </a:extLst>
          </p:cNvPr>
          <p:cNvSpPr/>
          <p:nvPr/>
        </p:nvSpPr>
        <p:spPr>
          <a:xfrm>
            <a:off x="46101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AA0A743-FBC6-44C0-B85D-354DE01EE098}"/>
              </a:ext>
            </a:extLst>
          </p:cNvPr>
          <p:cNvSpPr/>
          <p:nvPr/>
        </p:nvSpPr>
        <p:spPr>
          <a:xfrm>
            <a:off x="4610100" y="863600"/>
            <a:ext cx="1447800" cy="63500"/>
          </a:xfrm>
          <a:prstGeom prst="rect">
            <a:avLst/>
          </a:prstGeom>
          <a:solidFill>
            <a:srgbClr val="15803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FA152B6-88D8-426E-82FB-788BDD9D587F}"/>
              </a:ext>
            </a:extLst>
          </p:cNvPr>
          <p:cNvSpPr txBox="1"/>
          <p:nvPr/>
        </p:nvSpPr>
        <p:spPr>
          <a:xfrm>
            <a:off x="4648200" y="965200"/>
            <a:ext cx="1371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Pruebas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42850ED-5204-4C09-B2D6-3A7BEFFB7741}"/>
              </a:ext>
            </a:extLst>
          </p:cNvPr>
          <p:cNvSpPr txBox="1"/>
          <p:nvPr/>
        </p:nvSpPr>
        <p:spPr>
          <a:xfrm>
            <a:off x="46482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A6433A5-0E27-4CD4-AAAE-3E6CB76A1C95}"/>
              </a:ext>
            </a:extLst>
          </p:cNvPr>
          <p:cNvSpPr txBox="1"/>
          <p:nvPr/>
        </p:nvSpPr>
        <p:spPr>
          <a:xfrm>
            <a:off x="46482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2027-2028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C0AF2D5-7C99-4F8E-9F02-59EAB25A60F5}"/>
              </a:ext>
            </a:extLst>
          </p:cNvPr>
          <p:cNvSpPr/>
          <p:nvPr/>
        </p:nvSpPr>
        <p:spPr>
          <a:xfrm>
            <a:off x="60960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F85A27D-DE33-4D15-BA84-7F2F1C39F807}"/>
              </a:ext>
            </a:extLst>
          </p:cNvPr>
          <p:cNvSpPr/>
          <p:nvPr/>
        </p:nvSpPr>
        <p:spPr>
          <a:xfrm>
            <a:off x="6096000" y="863600"/>
            <a:ext cx="1447800" cy="63500"/>
          </a:xfrm>
          <a:prstGeom prst="rect">
            <a:avLst/>
          </a:prstGeom>
          <a:solidFill>
            <a:srgbClr val="C241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7E9E7D7-23ED-4448-BC20-5EFF83B0683F}"/>
              </a:ext>
            </a:extLst>
          </p:cNvPr>
          <p:cNvSpPr txBox="1"/>
          <p:nvPr/>
        </p:nvSpPr>
        <p:spPr>
          <a:xfrm>
            <a:off x="6134100" y="965200"/>
            <a:ext cx="13716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Implementación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D2FC96DB-F009-4AD1-BF62-ED8F171978E8}"/>
              </a:ext>
            </a:extLst>
          </p:cNvPr>
          <p:cNvSpPr txBox="1"/>
          <p:nvPr/>
        </p:nvSpPr>
        <p:spPr>
          <a:xfrm>
            <a:off x="61341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4509CED-9C6D-4C7D-9488-F188C3773BE3}"/>
              </a:ext>
            </a:extLst>
          </p:cNvPr>
          <p:cNvSpPr txBox="1"/>
          <p:nvPr/>
        </p:nvSpPr>
        <p:spPr>
          <a:xfrm>
            <a:off x="61341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2027-2028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11407227-9BBE-4F35-A9A9-1538EC797B26}"/>
              </a:ext>
            </a:extLst>
          </p:cNvPr>
          <p:cNvSpPr/>
          <p:nvPr/>
        </p:nvSpPr>
        <p:spPr>
          <a:xfrm>
            <a:off x="7581900" y="863600"/>
            <a:ext cx="1447800" cy="12700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52918AA-CFF9-4471-9A2F-78963BAC1A81}"/>
              </a:ext>
            </a:extLst>
          </p:cNvPr>
          <p:cNvSpPr/>
          <p:nvPr/>
        </p:nvSpPr>
        <p:spPr>
          <a:xfrm>
            <a:off x="7581900" y="863600"/>
            <a:ext cx="1447800" cy="63500"/>
          </a:xfrm>
          <a:prstGeom prst="rect">
            <a:avLst/>
          </a:prstGeom>
          <a:solidFill>
            <a:srgbClr val="38BDF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31E87A7-9576-4180-B066-1B6D4330996E}"/>
              </a:ext>
            </a:extLst>
          </p:cNvPr>
          <p:cNvSpPr txBox="1"/>
          <p:nvPr/>
        </p:nvSpPr>
        <p:spPr>
          <a:xfrm>
            <a:off x="7620000" y="9652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Mantenimiento</a:t>
            </a:r>
          </a:p>
          <a:p>
            <a:pPr algn="ctr"/>
            <a:r>
              <a:rPr lang="es-SV" sz="900" b="1" noProof="0">
                <a:solidFill>
                  <a:srgbClr val="1A3A6B"/>
                </a:solidFill>
                <a:latin typeface="Calibri" panose="020F0502020204030204" pitchFamily="34" charset="0"/>
              </a:rPr>
              <a:t>y soporte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166088E-D90C-44AD-BA6A-C37A0EB462AE}"/>
              </a:ext>
            </a:extLst>
          </p:cNvPr>
          <p:cNvSpPr txBox="1"/>
          <p:nvPr/>
        </p:nvSpPr>
        <p:spPr>
          <a:xfrm>
            <a:off x="7620000" y="1397000"/>
            <a:ext cx="13716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0%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A8F3734-DDBB-48E6-8A6C-AA18E261E01B}"/>
              </a:ext>
            </a:extLst>
          </p:cNvPr>
          <p:cNvSpPr txBox="1"/>
          <p:nvPr/>
        </p:nvSpPr>
        <p:spPr>
          <a:xfrm>
            <a:off x="7620000" y="1803400"/>
            <a:ext cx="13716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ctr"/>
            <a:r>
              <a:rPr lang="es-SV" sz="800" noProof="0">
                <a:solidFill>
                  <a:srgbClr val="64748B"/>
                </a:solidFill>
                <a:latin typeface="Calibri" panose="020F0502020204030204" pitchFamily="34" charset="0"/>
              </a:rPr>
              <a:t>2028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E3098B3A-FA5D-4EFA-A889-BF4DC37DD579}"/>
              </a:ext>
            </a:extLst>
          </p:cNvPr>
          <p:cNvSpPr txBox="1"/>
          <p:nvPr/>
        </p:nvSpPr>
        <p:spPr>
          <a:xfrm>
            <a:off x="203200" y="2413000"/>
            <a:ext cx="8763000" cy="21544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800" noProof="0" dirty="0">
                <a:solidFill>
                  <a:srgbClr val="64748B"/>
                </a:solidFill>
                <a:latin typeface="Calibri" panose="020F0502020204030204" pitchFamily="34" charset="0"/>
              </a:rPr>
              <a:t>El MVP 2027 prioriza procedimientos/DRF de mayor impacto (prioridad A). Identificación DICA 89.5% se reporta en el </a:t>
            </a:r>
            <a:r>
              <a:rPr lang="es-MX" sz="800" noProof="0" dirty="0" err="1">
                <a:solidFill>
                  <a:srgbClr val="64748B"/>
                </a:solidFill>
                <a:latin typeface="Calibri" panose="020F0502020204030204" pitchFamily="34" charset="0"/>
              </a:rPr>
              <a:t>dashboard</a:t>
            </a:r>
            <a:r>
              <a:rPr lang="es-MX" sz="800" noProof="0" dirty="0">
                <a:solidFill>
                  <a:srgbClr val="64748B"/>
                </a:solidFill>
                <a:latin typeface="Calibri" panose="020F0502020204030204" pitchFamily="34" charset="0"/>
              </a:rPr>
              <a:t>.</a:t>
            </a:r>
            <a:endParaRPr lang="es-SV" sz="800" noProof="0" dirty="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60A877-83DB-4B9E-BCAD-4ACFFA33D662}"/>
              </a:ext>
            </a:extLst>
          </p:cNvPr>
          <p:cNvSpPr txBox="1"/>
          <p:nvPr/>
        </p:nvSpPr>
        <p:spPr>
          <a:xfrm>
            <a:off x="203200" y="2641600"/>
            <a:ext cx="8763000" cy="276999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200" b="1" noProof="0">
                <a:solidFill>
                  <a:srgbClr val="1A3A6B"/>
                </a:solidFill>
                <a:latin typeface="Calibri" panose="020F0502020204030204" pitchFamily="34" charset="0"/>
              </a:rPr>
              <a:t>Primer prototipo funcional (MVP) — T1 a T2 2027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3A4B62A8-B12B-468B-9ED8-9814D1A039AB}"/>
              </a:ext>
            </a:extLst>
          </p:cNvPr>
          <p:cNvSpPr/>
          <p:nvPr/>
        </p:nvSpPr>
        <p:spPr>
          <a:xfrm>
            <a:off x="152400" y="2895600"/>
            <a:ext cx="2895600" cy="1143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359C027-D98F-42A5-9B51-B850EEED2A38}"/>
              </a:ext>
            </a:extLst>
          </p:cNvPr>
          <p:cNvSpPr/>
          <p:nvPr/>
        </p:nvSpPr>
        <p:spPr>
          <a:xfrm>
            <a:off x="152400" y="2895600"/>
            <a:ext cx="2895600" cy="635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36937D90-D90B-4411-B3B8-5C761952B446}"/>
              </a:ext>
            </a:extLst>
          </p:cNvPr>
          <p:cNvSpPr txBox="1"/>
          <p:nvPr/>
        </p:nvSpPr>
        <p:spPr>
          <a:xfrm>
            <a:off x="279400" y="3022600"/>
            <a:ext cx="26416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 b="1" noProof="0">
                <a:solidFill>
                  <a:srgbClr val="1A3A6B"/>
                </a:solidFill>
                <a:latin typeface="Calibri" panose="020F0502020204030204" pitchFamily="34" charset="0"/>
              </a:rPr>
              <a:t>Talento Humano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1FD33C8-BBE7-4DF9-9AB1-20D811D63A61}"/>
              </a:ext>
            </a:extLst>
          </p:cNvPr>
          <p:cNvSpPr txBox="1"/>
          <p:nvPr/>
        </p:nvSpPr>
        <p:spPr>
          <a:xfrm>
            <a:off x="279400" y="3276600"/>
            <a:ext cx="2641600" cy="4001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 noProof="0" dirty="0">
                <a:solidFill>
                  <a:srgbClr val="1E2D4E"/>
                </a:solidFill>
                <a:latin typeface="Calibri" panose="020F0502020204030204" pitchFamily="34" charset="0"/>
              </a:rPr>
              <a:t>Selección y contratación · Descriptores · Expediente de empleado · Planillas (núcleo)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53FAAD98-5C7F-48AC-842B-50E053728F56}"/>
              </a:ext>
            </a:extLst>
          </p:cNvPr>
          <p:cNvSpPr/>
          <p:nvPr/>
        </p:nvSpPr>
        <p:spPr>
          <a:xfrm>
            <a:off x="3149600" y="2895600"/>
            <a:ext cx="2895600" cy="1143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B469058-1F36-464D-8BC4-3E4ACD2B695D}"/>
              </a:ext>
            </a:extLst>
          </p:cNvPr>
          <p:cNvSpPr/>
          <p:nvPr/>
        </p:nvSpPr>
        <p:spPr>
          <a:xfrm>
            <a:off x="3149600" y="2895600"/>
            <a:ext cx="2895600" cy="635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8F38ED0C-57EE-4F6B-8154-AFED4487EBCC}"/>
              </a:ext>
            </a:extLst>
          </p:cNvPr>
          <p:cNvSpPr txBox="1"/>
          <p:nvPr/>
        </p:nvSpPr>
        <p:spPr>
          <a:xfrm>
            <a:off x="3276600" y="3022600"/>
            <a:ext cx="26416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 b="1" noProof="0">
                <a:solidFill>
                  <a:srgbClr val="1A3A6B"/>
                </a:solidFill>
                <a:latin typeface="Calibri" panose="020F0502020204030204" pitchFamily="34" charset="0"/>
              </a:rPr>
              <a:t>Contabilidad y Finanzas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3DE8EE8-41A1-46A6-9172-3B986BFCEA80}"/>
              </a:ext>
            </a:extLst>
          </p:cNvPr>
          <p:cNvSpPr txBox="1"/>
          <p:nvPr/>
        </p:nvSpPr>
        <p:spPr>
          <a:xfrm>
            <a:off x="3276600" y="3276600"/>
            <a:ext cx="2641600" cy="4001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 noProof="0" dirty="0">
                <a:solidFill>
                  <a:srgbClr val="1E2D4E"/>
                </a:solidFill>
                <a:latin typeface="Calibri" panose="020F0502020204030204" pitchFamily="34" charset="0"/>
              </a:rPr>
              <a:t>Contabilidad · Caja y Bancos · </a:t>
            </a:r>
            <a:r>
              <a:rPr lang="es-SV" sz="1000" noProof="0" dirty="0" err="1">
                <a:solidFill>
                  <a:srgbClr val="1E2D4E"/>
                </a:solidFill>
                <a:latin typeface="Calibri" panose="020F0502020204030204" pitchFamily="34" charset="0"/>
              </a:rPr>
              <a:t>CxC</a:t>
            </a:r>
            <a:r>
              <a:rPr lang="es-SV" sz="1000" noProof="0" dirty="0">
                <a:solidFill>
                  <a:srgbClr val="1E2D4E"/>
                </a:solidFill>
                <a:latin typeface="Calibri" panose="020F0502020204030204" pitchFamily="34" charset="0"/>
              </a:rPr>
              <a:t> (prototipo operable)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A366D807-8053-4BAE-8C85-08C5D2144797}"/>
              </a:ext>
            </a:extLst>
          </p:cNvPr>
          <p:cNvSpPr/>
          <p:nvPr/>
        </p:nvSpPr>
        <p:spPr>
          <a:xfrm>
            <a:off x="6146800" y="2895600"/>
            <a:ext cx="2895600" cy="1143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8B4C50E7-DEC9-47DB-971B-E13281674EDD}"/>
              </a:ext>
            </a:extLst>
          </p:cNvPr>
          <p:cNvSpPr/>
          <p:nvPr/>
        </p:nvSpPr>
        <p:spPr>
          <a:xfrm>
            <a:off x="6146800" y="2895600"/>
            <a:ext cx="2895600" cy="635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DFD7D84-5B45-4169-BC4C-AF937E76ACBE}"/>
              </a:ext>
            </a:extLst>
          </p:cNvPr>
          <p:cNvSpPr txBox="1"/>
          <p:nvPr/>
        </p:nvSpPr>
        <p:spPr>
          <a:xfrm>
            <a:off x="6273800" y="3022600"/>
            <a:ext cx="26416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 b="1" noProof="0">
                <a:solidFill>
                  <a:srgbClr val="1A3A6B"/>
                </a:solidFill>
                <a:latin typeface="Calibri" panose="020F0502020204030204" pitchFamily="34" charset="0"/>
              </a:rPr>
              <a:t>Académico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CC1B0817-0120-4941-9ACE-3495FF0A1FFA}"/>
              </a:ext>
            </a:extLst>
          </p:cNvPr>
          <p:cNvSpPr txBox="1"/>
          <p:nvPr/>
        </p:nvSpPr>
        <p:spPr>
          <a:xfrm>
            <a:off x="6273800" y="3276600"/>
            <a:ext cx="2641600" cy="4001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000" noProof="0">
                <a:solidFill>
                  <a:srgbClr val="1E2D4E"/>
                </a:solidFill>
                <a:latin typeface="Calibri" panose="020F0502020204030204" pitchFamily="34" charset="0"/>
              </a:rPr>
              <a:t>Admisión · Socioeconómico · Nuevo ingreso · Flujo hasta matrícula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6C75CEE1-086A-4785-BE0D-651D137100C6}"/>
              </a:ext>
            </a:extLst>
          </p:cNvPr>
          <p:cNvSpPr/>
          <p:nvPr/>
        </p:nvSpPr>
        <p:spPr>
          <a:xfrm>
            <a:off x="152400" y="4191000"/>
            <a:ext cx="2159000" cy="7366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B34BEF1F-7BE0-4F3C-A65A-360D13059E8A}"/>
              </a:ext>
            </a:extLst>
          </p:cNvPr>
          <p:cNvSpPr/>
          <p:nvPr/>
        </p:nvSpPr>
        <p:spPr>
          <a:xfrm>
            <a:off x="152400" y="4191000"/>
            <a:ext cx="2159000" cy="50800"/>
          </a:xfrm>
          <a:prstGeom prst="rect">
            <a:avLst/>
          </a:prstGeom>
          <a:solidFill>
            <a:srgbClr val="2B5BA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E8A7D7DA-9544-45EE-99A0-C6BB3969A7F4}"/>
              </a:ext>
            </a:extLst>
          </p:cNvPr>
          <p:cNvSpPr txBox="1"/>
          <p:nvPr/>
        </p:nvSpPr>
        <p:spPr>
          <a:xfrm>
            <a:off x="254000" y="4267200"/>
            <a:ext cx="19558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 noProof="0">
                <a:solidFill>
                  <a:srgbClr val="2B5BA8"/>
                </a:solidFill>
                <a:latin typeface="Calibri" panose="020F0502020204030204" pitchFamily="34" charset="0"/>
              </a:rPr>
              <a:t>Fases abiertas T2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5E9CA78C-7CC0-4C4C-935C-B20DFE717FCB}"/>
              </a:ext>
            </a:extLst>
          </p:cNvPr>
          <p:cNvSpPr txBox="1"/>
          <p:nvPr/>
        </p:nvSpPr>
        <p:spPr>
          <a:xfrm>
            <a:off x="254000" y="4445000"/>
            <a:ext cx="19558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b="1" noProof="0">
                <a:solidFill>
                  <a:srgbClr val="1A3A6B"/>
                </a:solidFill>
                <a:latin typeface="Calibri" panose="020F0502020204030204" pitchFamily="34" charset="0"/>
              </a:rPr>
              <a:t>48%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7C1DF598-5091-4F3E-B86E-F4BFFA42A476}"/>
              </a:ext>
            </a:extLst>
          </p:cNvPr>
          <p:cNvSpPr/>
          <p:nvPr/>
        </p:nvSpPr>
        <p:spPr>
          <a:xfrm>
            <a:off x="2413000" y="4191000"/>
            <a:ext cx="2159000" cy="736600"/>
          </a:xfrm>
          <a:prstGeom prst="roundRect">
            <a:avLst>
              <a:gd name="adj" fmla="val 10000"/>
            </a:avLst>
          </a:prstGeom>
          <a:solidFill>
            <a:srgbClr val="EBF1FA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23C5D30-4A34-45E4-85A2-82FDE7EFA83D}"/>
              </a:ext>
            </a:extLst>
          </p:cNvPr>
          <p:cNvSpPr/>
          <p:nvPr/>
        </p:nvSpPr>
        <p:spPr>
          <a:xfrm>
            <a:off x="2413000" y="4191000"/>
            <a:ext cx="2159000" cy="508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DA86166-0261-457F-AB21-DB97B6E91BDD}"/>
              </a:ext>
            </a:extLst>
          </p:cNvPr>
          <p:cNvSpPr txBox="1"/>
          <p:nvPr/>
        </p:nvSpPr>
        <p:spPr>
          <a:xfrm>
            <a:off x="2514600" y="4267200"/>
            <a:ext cx="1955800" cy="2308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900" b="1" noProof="0">
                <a:solidFill>
                  <a:srgbClr val="0D7490"/>
                </a:solidFill>
                <a:latin typeface="Calibri" panose="020F0502020204030204" pitchFamily="34" charset="0"/>
              </a:rPr>
              <a:t>Áreas macro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D2B8494-382E-4867-813B-A968A73B8B34}"/>
              </a:ext>
            </a:extLst>
          </p:cNvPr>
          <p:cNvSpPr txBox="1"/>
          <p:nvPr/>
        </p:nvSpPr>
        <p:spPr>
          <a:xfrm>
            <a:off x="2514600" y="4445000"/>
            <a:ext cx="1955800" cy="33855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600" b="1" noProof="0">
                <a:solidFill>
                  <a:srgbClr val="1A3A6B"/>
                </a:solidFill>
                <a:latin typeface="Calibri" panose="020F0502020204030204" pitchFamily="34" charset="0"/>
              </a:rPr>
              <a:t>8 - 6 - 4%</a:t>
            </a:r>
          </a:p>
        </p:txBody>
      </p:sp>
      <p:sp>
        <p:nvSpPr>
          <p:cNvPr id="60" name="Rectángulo: esquinas redondeadas 59">
            <a:extLst>
              <a:ext uri="{FF2B5EF4-FFF2-40B4-BE49-F238E27FC236}">
                <a16:creationId xmlns:a16="http://schemas.microsoft.com/office/drawing/2014/main" id="{F12A020C-A8A0-4102-BBDA-34B6844DAFDC}"/>
              </a:ext>
            </a:extLst>
          </p:cNvPr>
          <p:cNvSpPr/>
          <p:nvPr/>
        </p:nvSpPr>
        <p:spPr>
          <a:xfrm>
            <a:off x="4673600" y="4191000"/>
            <a:ext cx="4318000" cy="7366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u="sng" noProof="0"/>
          </a:p>
        </p:txBody>
      </p:sp>
      <p:sp>
        <p:nvSpPr>
          <p:cNvPr id="61" name="Rectángulo 60">
            <a:extLst>
              <a:ext uri="{FF2B5EF4-FFF2-40B4-BE49-F238E27FC236}">
                <a16:creationId xmlns:a16="http://schemas.microsoft.com/office/drawing/2014/main" id="{CA460451-143A-4D52-AE6A-8997439F4072}"/>
              </a:ext>
            </a:extLst>
          </p:cNvPr>
          <p:cNvSpPr/>
          <p:nvPr/>
        </p:nvSpPr>
        <p:spPr>
          <a:xfrm>
            <a:off x="4673600" y="4191000"/>
            <a:ext cx="4318000" cy="508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 noProof="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2A22B09-2333-4CE7-9BCF-47FF9A9A9FE4}"/>
              </a:ext>
            </a:extLst>
          </p:cNvPr>
          <p:cNvSpPr txBox="1"/>
          <p:nvPr/>
        </p:nvSpPr>
        <p:spPr>
          <a:xfrm>
            <a:off x="4800600" y="4292600"/>
            <a:ext cx="4064000" cy="60016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 noProof="0">
                <a:solidFill>
                  <a:srgbClr val="64748B"/>
                </a:solidFill>
                <a:latin typeface="Calibri" panose="020F0502020204030204" pitchFamily="34" charset="0"/>
              </a:rPr>
              <a:t>Gestión administrativa: 3 programadores incorporados</a:t>
            </a:r>
          </a:p>
          <a:p>
            <a:endParaRPr lang="es-SV" sz="1100" b="1" noProof="0">
              <a:solidFill>
                <a:srgbClr val="1E2D4E"/>
              </a:solidFill>
              <a:latin typeface="Calibri" panose="020F0502020204030204" pitchFamily="34" charset="0"/>
            </a:endParaRPr>
          </a:p>
          <a:p>
            <a:r>
              <a:rPr lang="es-SV" sz="1100" b="1" noProof="0">
                <a:solidFill>
                  <a:srgbClr val="1E2D4E"/>
                </a:solidFill>
                <a:latin typeface="Calibri" panose="020F0502020204030204" pitchFamily="34" charset="0"/>
              </a:rPr>
              <a:t>Equipo: 3 programadores incorporados.</a:t>
            </a:r>
          </a:p>
        </p:txBody>
      </p:sp>
    </p:spTree>
    <p:extLst>
      <p:ext uri="{BB962C8B-B14F-4D97-AF65-F5344CB8AC3E}">
        <p14:creationId xmlns:p14="http://schemas.microsoft.com/office/powerpoint/2010/main" val="200259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0A096B5-B6E2-457D-B592-BFD1EB23068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AF6BADD-E9CB-478D-A04F-3A0C0B6F5F83}"/>
              </a:ext>
            </a:extLst>
          </p:cNvPr>
          <p:cNvSpPr/>
          <p:nvPr/>
        </p:nvSpPr>
        <p:spPr>
          <a:xfrm>
            <a:off x="0" y="0"/>
            <a:ext cx="9144000" cy="635000"/>
          </a:xfrm>
          <a:prstGeom prst="rect">
            <a:avLst/>
          </a:prstGeom>
          <a:solidFill>
            <a:srgbClr val="1A3A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FB22382-ABBD-4807-8C01-AA8F7ECD63F8}"/>
              </a:ext>
            </a:extLst>
          </p:cNvPr>
          <p:cNvSpPr txBox="1"/>
          <p:nvPr/>
        </p:nvSpPr>
        <p:spPr>
          <a:xfrm>
            <a:off x="228600" y="88900"/>
            <a:ext cx="6604000" cy="36933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b="1">
                <a:solidFill>
                  <a:srgbClr val="FFFFFF"/>
                </a:solidFill>
                <a:latin typeface="Calibri" panose="020F0502020204030204" pitchFamily="34" charset="0"/>
              </a:rPr>
              <a:t>Pilar 5 - Demostración SGUEES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77FDF05-B73C-40BD-8B9C-D94BFCF1F84A}"/>
              </a:ext>
            </a:extLst>
          </p:cNvPr>
          <p:cNvSpPr txBox="1"/>
          <p:nvPr/>
        </p:nvSpPr>
        <p:spPr>
          <a:xfrm>
            <a:off x="7086600" y="177800"/>
            <a:ext cx="1803400" cy="276999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pPr algn="r"/>
            <a:r>
              <a:rPr lang="es-SV" sz="1200" b="1">
                <a:solidFill>
                  <a:srgbClr val="F5B800"/>
                </a:solidFill>
                <a:latin typeface="Calibri" panose="020F0502020204030204" pitchFamily="34" charset="0"/>
              </a:rPr>
              <a:t>EN VIVO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FD30565-69F1-4853-BE15-D15970DEF4FF}"/>
              </a:ext>
            </a:extLst>
          </p:cNvPr>
          <p:cNvSpPr/>
          <p:nvPr/>
        </p:nvSpPr>
        <p:spPr>
          <a:xfrm>
            <a:off x="304800" y="1066800"/>
            <a:ext cx="3302000" cy="3022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DF37350-CF05-40FC-95B4-851051774C01}"/>
              </a:ext>
            </a:extLst>
          </p:cNvPr>
          <p:cNvSpPr/>
          <p:nvPr/>
        </p:nvSpPr>
        <p:spPr>
          <a:xfrm>
            <a:off x="304800" y="1066800"/>
            <a:ext cx="3302000" cy="88900"/>
          </a:xfrm>
          <a:prstGeom prst="rect">
            <a:avLst/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4887F9-E501-40FE-B165-9CDF974DB7F8}"/>
              </a:ext>
            </a:extLst>
          </p:cNvPr>
          <p:cNvSpPr txBox="1"/>
          <p:nvPr/>
        </p:nvSpPr>
        <p:spPr>
          <a:xfrm>
            <a:off x="533400" y="1320800"/>
            <a:ext cx="2844800" cy="33855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600" b="1">
                <a:solidFill>
                  <a:srgbClr val="1A3A6B"/>
                </a:solidFill>
                <a:latin typeface="Calibri" panose="020F0502020204030204" pitchFamily="34" charset="0"/>
              </a:rPr>
              <a:t>1. Acta de reunión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26194A-4884-44EC-A268-A704333BEDA8}"/>
              </a:ext>
            </a:extLst>
          </p:cNvPr>
          <p:cNvSpPr txBox="1"/>
          <p:nvPr/>
        </p:nvSpPr>
        <p:spPr>
          <a:xfrm>
            <a:off x="533400" y="1701800"/>
            <a:ext cx="28448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100">
                <a:solidFill>
                  <a:srgbClr val="64748B"/>
                </a:solidFill>
                <a:latin typeface="Calibri" panose="020F0502020204030204" pitchFamily="34" charset="0"/>
              </a:rPr>
              <a:t>Seguimiento y validación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ECA866F-3F27-4820-8C45-5DB95C1A21AD}"/>
              </a:ext>
            </a:extLst>
          </p:cNvPr>
          <p:cNvSpPr txBox="1"/>
          <p:nvPr/>
        </p:nvSpPr>
        <p:spPr>
          <a:xfrm>
            <a:off x="533400" y="2133600"/>
            <a:ext cx="2844800" cy="892552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300">
                <a:solidFill>
                  <a:srgbClr val="1E2D4E"/>
                </a:solidFill>
                <a:latin typeface="Calibri" panose="020F0502020204030204" pitchFamily="34" charset="0"/>
              </a:rPr>
              <a:t>Acuerdos entre STI y el área.</a:t>
            </a:r>
          </a:p>
          <a:p>
            <a:endParaRPr lang="es-MX" sz="1300">
              <a:solidFill>
                <a:srgbClr val="1E2D4E"/>
              </a:solidFill>
              <a:latin typeface="Calibri" panose="020F0502020204030204" pitchFamily="34" charset="0"/>
            </a:endParaRPr>
          </a:p>
          <a:p>
            <a:r>
              <a:rPr lang="es-MX" sz="1300">
                <a:solidFill>
                  <a:srgbClr val="1E2D4E"/>
                </a:solidFill>
                <a:latin typeface="Calibri" panose="020F0502020204030204" pitchFamily="34" charset="0"/>
              </a:rPr>
              <a:t>Evidencia del seguimiento al requerimiento analizado.</a:t>
            </a:r>
            <a:endParaRPr lang="es-SV" sz="130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: esquinas redondeadas 11">
            <a:hlinkClick r:id="rId2"/>
            <a:extLst>
              <a:ext uri="{FF2B5EF4-FFF2-40B4-BE49-F238E27FC236}">
                <a16:creationId xmlns:a16="http://schemas.microsoft.com/office/drawing/2014/main" id="{2451F3D9-7EDB-4343-B1C6-79E4A2FF09FD}"/>
              </a:ext>
            </a:extLst>
          </p:cNvPr>
          <p:cNvSpPr/>
          <p:nvPr/>
        </p:nvSpPr>
        <p:spPr>
          <a:xfrm>
            <a:off x="533400" y="3429000"/>
            <a:ext cx="2844800" cy="457200"/>
          </a:xfrm>
          <a:prstGeom prst="roundRect">
            <a:avLst>
              <a:gd name="adj" fmla="val 18000"/>
            </a:avLst>
          </a:prstGeom>
          <a:solidFill>
            <a:srgbClr val="0D749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200" b="1">
                <a:solidFill>
                  <a:srgbClr val="FFFFFF"/>
                </a:solidFill>
                <a:latin typeface="Calibri" panose="020F0502020204030204" pitchFamily="34" charset="0"/>
              </a:rPr>
              <a:t>Abrir acta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9B337D5D-1372-4E2F-8FA4-C32CF8FFA6E6}"/>
              </a:ext>
            </a:extLst>
          </p:cNvPr>
          <p:cNvSpPr/>
          <p:nvPr/>
        </p:nvSpPr>
        <p:spPr>
          <a:xfrm>
            <a:off x="3860800" y="1066800"/>
            <a:ext cx="4978400" cy="30226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E7B9E540-ED3B-492F-828C-0CBBD0F0B4A4}"/>
              </a:ext>
            </a:extLst>
          </p:cNvPr>
          <p:cNvSpPr/>
          <p:nvPr/>
        </p:nvSpPr>
        <p:spPr>
          <a:xfrm>
            <a:off x="3860800" y="1066800"/>
            <a:ext cx="4978400" cy="88900"/>
          </a:xfrm>
          <a:prstGeom prst="rect">
            <a:avLst/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AC8E4BB-299B-45B6-8CD1-7503F8E43CDB}"/>
              </a:ext>
            </a:extLst>
          </p:cNvPr>
          <p:cNvSpPr txBox="1"/>
          <p:nvPr/>
        </p:nvSpPr>
        <p:spPr>
          <a:xfrm>
            <a:off x="4114800" y="1320800"/>
            <a:ext cx="4470400" cy="338554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SV" sz="1600" b="1">
                <a:solidFill>
                  <a:srgbClr val="1A3A6B"/>
                </a:solidFill>
                <a:latin typeface="Calibri" panose="020F0502020204030204" pitchFamily="34" charset="0"/>
              </a:rPr>
              <a:t>2. Sistema SGUEES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40D24F4-340A-4E33-93DF-483FBCBF6013}"/>
              </a:ext>
            </a:extLst>
          </p:cNvPr>
          <p:cNvSpPr txBox="1"/>
          <p:nvPr/>
        </p:nvSpPr>
        <p:spPr>
          <a:xfrm>
            <a:off x="4114800" y="1701800"/>
            <a:ext cx="4470400" cy="261610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100">
                <a:solidFill>
                  <a:srgbClr val="64748B"/>
                </a:solidFill>
                <a:latin typeface="Calibri" panose="020F0502020204030204" pitchFamily="34" charset="0"/>
              </a:rPr>
              <a:t>Demostración del resultado en construcción</a:t>
            </a:r>
            <a:endParaRPr lang="es-SV" sz="1100">
              <a:solidFill>
                <a:srgbClr val="64748B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782F54C-C109-4323-BBF4-A7F8A13F740D}"/>
              </a:ext>
            </a:extLst>
          </p:cNvPr>
          <p:cNvSpPr txBox="1"/>
          <p:nvPr/>
        </p:nvSpPr>
        <p:spPr>
          <a:xfrm>
            <a:off x="4114800" y="2108200"/>
            <a:ext cx="2159000" cy="830997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Recorrido en vivo:</a:t>
            </a: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Seguridad</a:t>
            </a: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Talento Humano</a:t>
            </a: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Selección y contratación</a:t>
            </a:r>
            <a:endParaRPr lang="es-SV" sz="120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C0941E2-6D2C-43E2-A05E-B656BE87A0EF}"/>
              </a:ext>
            </a:extLst>
          </p:cNvPr>
          <p:cNvSpPr txBox="1"/>
          <p:nvPr/>
        </p:nvSpPr>
        <p:spPr>
          <a:xfrm>
            <a:off x="6350000" y="2108200"/>
            <a:ext cx="2159000" cy="1015663"/>
          </a:xfrm>
          <a:prstGeom prst="rect">
            <a:avLst/>
          </a:prstGeom>
          <a:noFill/>
        </p:spPr>
        <p:txBody>
          <a:bodyPr vert="horz" wrap="square" lIns="38100" rIns="38100" rtlCol="0">
            <a:spAutoFit/>
          </a:bodyPr>
          <a:lstStyle/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Contabilidad</a:t>
            </a: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Bancos</a:t>
            </a: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• Admisión</a:t>
            </a:r>
          </a:p>
          <a:p>
            <a:endParaRPr lang="es-MX" sz="1200">
              <a:solidFill>
                <a:srgbClr val="1E2D4E"/>
              </a:solidFill>
              <a:latin typeface="Calibri" panose="020F0502020204030204" pitchFamily="34" charset="0"/>
            </a:endParaRPr>
          </a:p>
          <a:p>
            <a:r>
              <a:rPr lang="es-MX" sz="1200">
                <a:solidFill>
                  <a:srgbClr val="1E2D4E"/>
                </a:solidFill>
                <a:latin typeface="Calibri" panose="020F0502020204030204" pitchFamily="34" charset="0"/>
              </a:rPr>
              <a:t>Producto visible del avance.</a:t>
            </a:r>
            <a:endParaRPr lang="es-SV" sz="1200">
              <a:solidFill>
                <a:srgbClr val="1E2D4E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CB00925-5B20-4F79-AE9C-C85EE68156CF}"/>
              </a:ext>
            </a:extLst>
          </p:cNvPr>
          <p:cNvSpPr/>
          <p:nvPr/>
        </p:nvSpPr>
        <p:spPr>
          <a:xfrm>
            <a:off x="4114800" y="3429000"/>
            <a:ext cx="4470400" cy="457200"/>
          </a:xfrm>
          <a:prstGeom prst="roundRect">
            <a:avLst>
              <a:gd name="adj" fmla="val 18000"/>
            </a:avLst>
          </a:prstGeom>
          <a:solidFill>
            <a:srgbClr val="F5B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SV" sz="1200" b="1">
                <a:solidFill>
                  <a:srgbClr val="1A3A6B"/>
                </a:solidFill>
                <a:latin typeface="Calibri" panose="020F0502020204030204" pitchFamily="34" charset="0"/>
              </a:rPr>
              <a:t>Iniciar recorrido en SGUEES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71A9A23-5587-47E5-8A5A-98B37195498B}"/>
              </a:ext>
            </a:extLst>
          </p:cNvPr>
          <p:cNvSpPr/>
          <p:nvPr/>
        </p:nvSpPr>
        <p:spPr>
          <a:xfrm>
            <a:off x="304800" y="4368800"/>
            <a:ext cx="8534400" cy="12700"/>
          </a:xfrm>
          <a:prstGeom prst="rect">
            <a:avLst/>
          </a:prstGeom>
          <a:solidFill>
            <a:srgbClr val="CBD5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289139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2157</Words>
  <Application>Microsoft Office PowerPoint</Application>
  <PresentationFormat>Presentación en pantalla (16:9)</PresentationFormat>
  <Paragraphs>367</Paragraphs>
  <Slides>16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CTD — Informe de Avance Bimestral</dc:title>
  <dc:subject>PptxGenJS Presentation</dc:subject>
  <dc:creator>omar.villanueva@uees.edu.sv</dc:creator>
  <cp:lastModifiedBy>Jonathan Avalos</cp:lastModifiedBy>
  <cp:revision>6</cp:revision>
  <dcterms:created xsi:type="dcterms:W3CDTF">2026-06-15T03:01:38Z</dcterms:created>
  <dcterms:modified xsi:type="dcterms:W3CDTF">2026-07-29T23:32:29Z</dcterms:modified>
</cp:coreProperties>
</file>