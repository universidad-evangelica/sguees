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3" r:id="rId2"/>
    <p:sldId id="295" r:id="rId3"/>
    <p:sldId id="261" r:id="rId4"/>
    <p:sldId id="385" r:id="rId5"/>
    <p:sldId id="296" r:id="rId6"/>
    <p:sldId id="297" r:id="rId7"/>
    <p:sldId id="276" r:id="rId8"/>
    <p:sldId id="300" r:id="rId9"/>
    <p:sldId id="299" r:id="rId10"/>
    <p:sldId id="301" r:id="rId11"/>
    <p:sldId id="387" r:id="rId12"/>
    <p:sldId id="302" r:id="rId13"/>
    <p:sldId id="391" r:id="rId14"/>
    <p:sldId id="303" r:id="rId15"/>
    <p:sldId id="389" r:id="rId16"/>
    <p:sldId id="307" r:id="rId17"/>
    <p:sldId id="308" r:id="rId18"/>
    <p:sldId id="309" r:id="rId19"/>
  </p:sldIdLst>
  <p:sldSz cx="10287000" cy="6858000" type="35mm"/>
  <p:notesSz cx="6950075" cy="9236075"/>
  <p:defaultTextStyle>
    <a:defPPr>
      <a:defRPr lang="es-E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2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ladimir Crúz" initials="VC" lastIdx="2" clrIdx="0">
    <p:extLst>
      <p:ext uri="{19B8F6BF-5375-455C-9EA6-DF929625EA0E}">
        <p15:presenceInfo xmlns:p15="http://schemas.microsoft.com/office/powerpoint/2012/main" userId="S-1-5-21-1614895754-1343024091-839522115-6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B93"/>
    <a:srgbClr val="FF9900"/>
    <a:srgbClr val="FF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9964" autoAdjust="0"/>
  </p:normalViewPr>
  <p:slideViewPr>
    <p:cSldViewPr snapToGrid="0" snapToObjects="1">
      <p:cViewPr varScale="1">
        <p:scale>
          <a:sx n="98" d="100"/>
          <a:sy n="98" d="100"/>
        </p:scale>
        <p:origin x="1620" y="84"/>
      </p:cViewPr>
      <p:guideLst>
        <p:guide orient="horz" pos="2160"/>
        <p:guide pos="3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86E895-AA16-4389-A170-B7EFA45DD77F}" type="doc">
      <dgm:prSet loTypeId="urn:microsoft.com/office/officeart/2005/8/layout/hChevron3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9F9C53FB-4086-40DF-B814-2A22C3BF9348}">
      <dgm:prSet phldrT="[Texto]" custT="1"/>
      <dgm:spPr>
        <a:solidFill>
          <a:schemeClr val="tx2"/>
        </a:solidFill>
      </dgm:spPr>
      <dgm:t>
        <a:bodyPr/>
        <a:lstStyle/>
        <a:p>
          <a:r>
            <a:rPr lang="es-MX" sz="1200" b="1" dirty="0">
              <a:latin typeface="Arial" panose="020B0604020202020204" pitchFamily="34" charset="0"/>
              <a:cs typeface="Arial" panose="020B0604020202020204" pitchFamily="34" charset="0"/>
            </a:rPr>
            <a:t>Análisis de Requerimientos</a:t>
          </a:r>
        </a:p>
      </dgm:t>
    </dgm:pt>
    <dgm:pt modelId="{843DFA08-6278-4DC8-AA99-7B568A144FC4}" type="parTrans" cxnId="{14118E1B-5888-4291-B5CD-94BE5795E83D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FB2185-46F6-46C6-9A0E-7E7A4FE2734F}" type="sibTrans" cxnId="{14118E1B-5888-4291-B5CD-94BE5795E83D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67AB5F-3D0B-45B2-9BEB-195297DB88DE}">
      <dgm:prSet phldrT="[Texto]" custT="1"/>
      <dgm:spPr>
        <a:solidFill>
          <a:srgbClr val="FFC000"/>
        </a:solidFill>
      </dgm:spPr>
      <dgm:t>
        <a:bodyPr/>
        <a:lstStyle/>
        <a:p>
          <a:r>
            <a:rPr lang="es-MX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Planificación y Diseño</a:t>
          </a:r>
        </a:p>
      </dgm:t>
    </dgm:pt>
    <dgm:pt modelId="{5D1EA063-814C-429B-9EB2-1AE7C713CEB3}" type="parTrans" cxnId="{FADCD12C-F9E9-4C12-8098-A5B93CDE93DB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4531C9-874B-4145-95E8-C7F040AAB9BC}" type="sibTrans" cxnId="{FADCD12C-F9E9-4C12-8098-A5B93CDE93DB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DD7623-A3B7-470C-B849-941CC1859FBB}">
      <dgm:prSet phldrT="[Texto]" custT="1"/>
      <dgm:spPr>
        <a:solidFill>
          <a:srgbClr val="0070C0"/>
        </a:solidFill>
      </dgm:spPr>
      <dgm:t>
        <a:bodyPr/>
        <a:lstStyle/>
        <a:p>
          <a:r>
            <a:rPr lang="es-MX" sz="1200" b="1" dirty="0">
              <a:latin typeface="Arial" panose="020B0604020202020204" pitchFamily="34" charset="0"/>
              <a:cs typeface="Arial" panose="020B0604020202020204" pitchFamily="34" charset="0"/>
            </a:rPr>
            <a:t>Desarrollo</a:t>
          </a:r>
        </a:p>
      </dgm:t>
    </dgm:pt>
    <dgm:pt modelId="{6BA72147-3C7B-4E4E-B5CA-A1B151B406DF}" type="parTrans" cxnId="{EA6709C8-BA35-481C-9E36-B9B90D2D552F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DFA653-3DDC-47BF-B494-0A39DCCD25AF}" type="sibTrans" cxnId="{EA6709C8-BA35-481C-9E36-B9B90D2D552F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3BCDAB-95A3-4823-9116-6144ED200A46}">
      <dgm:prSet custT="1"/>
      <dgm:spPr>
        <a:solidFill>
          <a:srgbClr val="006600"/>
        </a:solidFill>
      </dgm:spPr>
      <dgm:t>
        <a:bodyPr/>
        <a:lstStyle/>
        <a:p>
          <a:r>
            <a:rPr lang="es-MX" sz="1200" b="1" dirty="0">
              <a:latin typeface="Arial" panose="020B0604020202020204" pitchFamily="34" charset="0"/>
              <a:cs typeface="Arial" panose="020B0604020202020204" pitchFamily="34" charset="0"/>
            </a:rPr>
            <a:t>Pruebas</a:t>
          </a:r>
          <a:endParaRPr lang="es-MX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EC4BB4-A4F8-4252-8305-6AF314A8B7A9}" type="parTrans" cxnId="{3FEFE534-E43C-4342-9399-AE27BBEFB873}">
      <dgm:prSet/>
      <dgm:spPr/>
      <dgm:t>
        <a:bodyPr/>
        <a:lstStyle/>
        <a:p>
          <a:endParaRPr lang="es-MX"/>
        </a:p>
      </dgm:t>
    </dgm:pt>
    <dgm:pt modelId="{7F241579-BE5B-49F2-8328-68830D9EDE46}" type="sibTrans" cxnId="{3FEFE534-E43C-4342-9399-AE27BBEFB873}">
      <dgm:prSet/>
      <dgm:spPr/>
      <dgm:t>
        <a:bodyPr/>
        <a:lstStyle/>
        <a:p>
          <a:endParaRPr lang="es-MX"/>
        </a:p>
      </dgm:t>
    </dgm:pt>
    <dgm:pt modelId="{34287642-F4E5-4016-8606-8F7EEF88C9A3}">
      <dgm:prSet custT="1"/>
      <dgm:spPr>
        <a:solidFill>
          <a:srgbClr val="CC3300"/>
        </a:solidFill>
      </dgm:spPr>
      <dgm:t>
        <a:bodyPr/>
        <a:lstStyle/>
        <a:p>
          <a:r>
            <a:rPr lang="es-MX" sz="1100" b="1" dirty="0">
              <a:latin typeface="Arial" panose="020B0604020202020204" pitchFamily="34" charset="0"/>
              <a:cs typeface="Arial" panose="020B0604020202020204" pitchFamily="34" charset="0"/>
            </a:rPr>
            <a:t> Implementación</a:t>
          </a:r>
          <a:endParaRPr lang="es-MX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12D353-7690-44D5-8F27-FE3D8A0286AA}" type="parTrans" cxnId="{9CCCBD9B-8ACE-461B-9D37-180474288E3B}">
      <dgm:prSet/>
      <dgm:spPr/>
      <dgm:t>
        <a:bodyPr/>
        <a:lstStyle/>
        <a:p>
          <a:endParaRPr lang="es-MX"/>
        </a:p>
      </dgm:t>
    </dgm:pt>
    <dgm:pt modelId="{27E5745A-14B6-4BDA-B2BE-02921D29BA2B}" type="sibTrans" cxnId="{9CCCBD9B-8ACE-461B-9D37-180474288E3B}">
      <dgm:prSet/>
      <dgm:spPr/>
      <dgm:t>
        <a:bodyPr/>
        <a:lstStyle/>
        <a:p>
          <a:endParaRPr lang="es-MX"/>
        </a:p>
      </dgm:t>
    </dgm:pt>
    <dgm:pt modelId="{0ABE35B3-56CD-49E8-BA5E-57B93E25A03A}">
      <dgm:prSet custT="1"/>
      <dgm:spPr>
        <a:solidFill>
          <a:srgbClr val="0066FF"/>
        </a:solidFill>
      </dgm:spPr>
      <dgm:t>
        <a:bodyPr/>
        <a:lstStyle/>
        <a:p>
          <a:r>
            <a:rPr lang="es-MX" sz="1200" b="1" dirty="0"/>
            <a:t>Mantenimiento y Soporte</a:t>
          </a:r>
          <a:endParaRPr lang="es-MX" sz="1200" dirty="0"/>
        </a:p>
      </dgm:t>
    </dgm:pt>
    <dgm:pt modelId="{F5384FC4-3FD5-4F13-A9F9-BF1C2E8D2301}" type="parTrans" cxnId="{EDFFD7FF-5C0E-45CA-A545-85F2FE624D6A}">
      <dgm:prSet/>
      <dgm:spPr/>
      <dgm:t>
        <a:bodyPr/>
        <a:lstStyle/>
        <a:p>
          <a:endParaRPr lang="es-MX"/>
        </a:p>
      </dgm:t>
    </dgm:pt>
    <dgm:pt modelId="{1324FDBB-7D23-461E-A6AA-77370F8AB05D}" type="sibTrans" cxnId="{EDFFD7FF-5C0E-45CA-A545-85F2FE624D6A}">
      <dgm:prSet/>
      <dgm:spPr/>
      <dgm:t>
        <a:bodyPr/>
        <a:lstStyle/>
        <a:p>
          <a:endParaRPr lang="es-MX"/>
        </a:p>
      </dgm:t>
    </dgm:pt>
    <dgm:pt modelId="{16645716-9447-489A-9253-3C668DC0BFA9}" type="pres">
      <dgm:prSet presAssocID="{2A86E895-AA16-4389-A170-B7EFA45DD77F}" presName="Name0" presStyleCnt="0">
        <dgm:presLayoutVars>
          <dgm:dir/>
          <dgm:resizeHandles val="exact"/>
        </dgm:presLayoutVars>
      </dgm:prSet>
      <dgm:spPr/>
    </dgm:pt>
    <dgm:pt modelId="{5E8F0A85-78C4-44EA-BB8B-29C058305D18}" type="pres">
      <dgm:prSet presAssocID="{9F9C53FB-4086-40DF-B814-2A22C3BF9348}" presName="parTxOnly" presStyleLbl="node1" presStyleIdx="0" presStyleCnt="6">
        <dgm:presLayoutVars>
          <dgm:bulletEnabled val="1"/>
        </dgm:presLayoutVars>
      </dgm:prSet>
      <dgm:spPr/>
    </dgm:pt>
    <dgm:pt modelId="{68777CFC-2C07-47AA-8CA1-B87E8281F165}" type="pres">
      <dgm:prSet presAssocID="{DAFB2185-46F6-46C6-9A0E-7E7A4FE2734F}" presName="parSpace" presStyleCnt="0"/>
      <dgm:spPr/>
    </dgm:pt>
    <dgm:pt modelId="{1A910B56-00C3-456F-9B67-AEE85DF89BEF}" type="pres">
      <dgm:prSet presAssocID="{ED67AB5F-3D0B-45B2-9BEB-195297DB88DE}" presName="parTxOnly" presStyleLbl="node1" presStyleIdx="1" presStyleCnt="6">
        <dgm:presLayoutVars>
          <dgm:bulletEnabled val="1"/>
        </dgm:presLayoutVars>
      </dgm:prSet>
      <dgm:spPr/>
    </dgm:pt>
    <dgm:pt modelId="{261A8744-5A80-4F0B-BEB4-9033CAC50467}" type="pres">
      <dgm:prSet presAssocID="{634531C9-874B-4145-95E8-C7F040AAB9BC}" presName="parSpace" presStyleCnt="0"/>
      <dgm:spPr/>
    </dgm:pt>
    <dgm:pt modelId="{AF107700-5FD3-4AD0-8CCE-465139A8BB94}" type="pres">
      <dgm:prSet presAssocID="{6BDD7623-A3B7-470C-B849-941CC1859FBB}" presName="parTxOnly" presStyleLbl="node1" presStyleIdx="2" presStyleCnt="6" custLinFactNeighborY="-1008">
        <dgm:presLayoutVars>
          <dgm:bulletEnabled val="1"/>
        </dgm:presLayoutVars>
      </dgm:prSet>
      <dgm:spPr/>
    </dgm:pt>
    <dgm:pt modelId="{43795C59-4FE0-49DE-9D23-9CA5546E3FAB}" type="pres">
      <dgm:prSet presAssocID="{53DFA653-3DDC-47BF-B494-0A39DCCD25AF}" presName="parSpace" presStyleCnt="0"/>
      <dgm:spPr/>
    </dgm:pt>
    <dgm:pt modelId="{8D6142F9-BA5F-4CAD-9383-E36BEC77C5EC}" type="pres">
      <dgm:prSet presAssocID="{7A3BCDAB-95A3-4823-9116-6144ED200A46}" presName="parTxOnly" presStyleLbl="node1" presStyleIdx="3" presStyleCnt="6">
        <dgm:presLayoutVars>
          <dgm:bulletEnabled val="1"/>
        </dgm:presLayoutVars>
      </dgm:prSet>
      <dgm:spPr/>
    </dgm:pt>
    <dgm:pt modelId="{4424CE31-C161-42DC-B871-F29DE5B216A1}" type="pres">
      <dgm:prSet presAssocID="{7F241579-BE5B-49F2-8328-68830D9EDE46}" presName="parSpace" presStyleCnt="0"/>
      <dgm:spPr/>
    </dgm:pt>
    <dgm:pt modelId="{2C4E2632-8D32-4245-84E7-296B42CF8379}" type="pres">
      <dgm:prSet presAssocID="{34287642-F4E5-4016-8606-8F7EEF88C9A3}" presName="parTxOnly" presStyleLbl="node1" presStyleIdx="4" presStyleCnt="6">
        <dgm:presLayoutVars>
          <dgm:bulletEnabled val="1"/>
        </dgm:presLayoutVars>
      </dgm:prSet>
      <dgm:spPr/>
    </dgm:pt>
    <dgm:pt modelId="{2F47E316-EC1E-4030-A462-204DCE794F3C}" type="pres">
      <dgm:prSet presAssocID="{27E5745A-14B6-4BDA-B2BE-02921D29BA2B}" presName="parSpace" presStyleCnt="0"/>
      <dgm:spPr/>
    </dgm:pt>
    <dgm:pt modelId="{8E0A4277-DBDD-4138-9572-D864D3F99494}" type="pres">
      <dgm:prSet presAssocID="{0ABE35B3-56CD-49E8-BA5E-57B93E25A03A}" presName="parTxOnly" presStyleLbl="node1" presStyleIdx="5" presStyleCnt="6">
        <dgm:presLayoutVars>
          <dgm:bulletEnabled val="1"/>
        </dgm:presLayoutVars>
      </dgm:prSet>
      <dgm:spPr/>
    </dgm:pt>
  </dgm:ptLst>
  <dgm:cxnLst>
    <dgm:cxn modelId="{2F982F15-97C0-45FF-9530-DDFA7C64BD6E}" type="presOf" srcId="{9F9C53FB-4086-40DF-B814-2A22C3BF9348}" destId="{5E8F0A85-78C4-44EA-BB8B-29C058305D18}" srcOrd="0" destOrd="0" presId="urn:microsoft.com/office/officeart/2005/8/layout/hChevron3"/>
    <dgm:cxn modelId="{94A2B118-D8E4-49A6-BA88-C850C52C18A5}" type="presOf" srcId="{6BDD7623-A3B7-470C-B849-941CC1859FBB}" destId="{AF107700-5FD3-4AD0-8CCE-465139A8BB94}" srcOrd="0" destOrd="0" presId="urn:microsoft.com/office/officeart/2005/8/layout/hChevron3"/>
    <dgm:cxn modelId="{14118E1B-5888-4291-B5CD-94BE5795E83D}" srcId="{2A86E895-AA16-4389-A170-B7EFA45DD77F}" destId="{9F9C53FB-4086-40DF-B814-2A22C3BF9348}" srcOrd="0" destOrd="0" parTransId="{843DFA08-6278-4DC8-AA99-7B568A144FC4}" sibTransId="{DAFB2185-46F6-46C6-9A0E-7E7A4FE2734F}"/>
    <dgm:cxn modelId="{FADCD12C-F9E9-4C12-8098-A5B93CDE93DB}" srcId="{2A86E895-AA16-4389-A170-B7EFA45DD77F}" destId="{ED67AB5F-3D0B-45B2-9BEB-195297DB88DE}" srcOrd="1" destOrd="0" parTransId="{5D1EA063-814C-429B-9EB2-1AE7C713CEB3}" sibTransId="{634531C9-874B-4145-95E8-C7F040AAB9BC}"/>
    <dgm:cxn modelId="{3FEFE534-E43C-4342-9399-AE27BBEFB873}" srcId="{2A86E895-AA16-4389-A170-B7EFA45DD77F}" destId="{7A3BCDAB-95A3-4823-9116-6144ED200A46}" srcOrd="3" destOrd="0" parTransId="{D6EC4BB4-A4F8-4252-8305-6AF314A8B7A9}" sibTransId="{7F241579-BE5B-49F2-8328-68830D9EDE46}"/>
    <dgm:cxn modelId="{92375A62-A6FF-4BF2-9DB3-BD6EF8935CAD}" type="presOf" srcId="{34287642-F4E5-4016-8606-8F7EEF88C9A3}" destId="{2C4E2632-8D32-4245-84E7-296B42CF8379}" srcOrd="0" destOrd="0" presId="urn:microsoft.com/office/officeart/2005/8/layout/hChevron3"/>
    <dgm:cxn modelId="{1B9CD550-4DAC-4267-9669-1DE4EB39A242}" type="presOf" srcId="{ED67AB5F-3D0B-45B2-9BEB-195297DB88DE}" destId="{1A910B56-00C3-456F-9B67-AEE85DF89BEF}" srcOrd="0" destOrd="0" presId="urn:microsoft.com/office/officeart/2005/8/layout/hChevron3"/>
    <dgm:cxn modelId="{CECB4755-4388-4F75-B180-761C00897E99}" type="presOf" srcId="{7A3BCDAB-95A3-4823-9116-6144ED200A46}" destId="{8D6142F9-BA5F-4CAD-9383-E36BEC77C5EC}" srcOrd="0" destOrd="0" presId="urn:microsoft.com/office/officeart/2005/8/layout/hChevron3"/>
    <dgm:cxn modelId="{EAB33F85-73B1-4FCB-9AF9-29CD8BAAB344}" type="presOf" srcId="{2A86E895-AA16-4389-A170-B7EFA45DD77F}" destId="{16645716-9447-489A-9253-3C668DC0BFA9}" srcOrd="0" destOrd="0" presId="urn:microsoft.com/office/officeart/2005/8/layout/hChevron3"/>
    <dgm:cxn modelId="{9CCCBD9B-8ACE-461B-9D37-180474288E3B}" srcId="{2A86E895-AA16-4389-A170-B7EFA45DD77F}" destId="{34287642-F4E5-4016-8606-8F7EEF88C9A3}" srcOrd="4" destOrd="0" parTransId="{1A12D353-7690-44D5-8F27-FE3D8A0286AA}" sibTransId="{27E5745A-14B6-4BDA-B2BE-02921D29BA2B}"/>
    <dgm:cxn modelId="{B0D20CC5-7F10-480E-A0AD-3B7625B459A5}" type="presOf" srcId="{0ABE35B3-56CD-49E8-BA5E-57B93E25A03A}" destId="{8E0A4277-DBDD-4138-9572-D864D3F99494}" srcOrd="0" destOrd="0" presId="urn:microsoft.com/office/officeart/2005/8/layout/hChevron3"/>
    <dgm:cxn modelId="{EA6709C8-BA35-481C-9E36-B9B90D2D552F}" srcId="{2A86E895-AA16-4389-A170-B7EFA45DD77F}" destId="{6BDD7623-A3B7-470C-B849-941CC1859FBB}" srcOrd="2" destOrd="0" parTransId="{6BA72147-3C7B-4E4E-B5CA-A1B151B406DF}" sibTransId="{53DFA653-3DDC-47BF-B494-0A39DCCD25AF}"/>
    <dgm:cxn modelId="{EDFFD7FF-5C0E-45CA-A545-85F2FE624D6A}" srcId="{2A86E895-AA16-4389-A170-B7EFA45DD77F}" destId="{0ABE35B3-56CD-49E8-BA5E-57B93E25A03A}" srcOrd="5" destOrd="0" parTransId="{F5384FC4-3FD5-4F13-A9F9-BF1C2E8D2301}" sibTransId="{1324FDBB-7D23-461E-A6AA-77370F8AB05D}"/>
    <dgm:cxn modelId="{29C6752C-3D56-45EE-B5CC-726D18DB4C04}" type="presParOf" srcId="{16645716-9447-489A-9253-3C668DC0BFA9}" destId="{5E8F0A85-78C4-44EA-BB8B-29C058305D18}" srcOrd="0" destOrd="0" presId="urn:microsoft.com/office/officeart/2005/8/layout/hChevron3"/>
    <dgm:cxn modelId="{1CA3F70F-279B-40FB-9AEE-B6968D144B8D}" type="presParOf" srcId="{16645716-9447-489A-9253-3C668DC0BFA9}" destId="{68777CFC-2C07-47AA-8CA1-B87E8281F165}" srcOrd="1" destOrd="0" presId="urn:microsoft.com/office/officeart/2005/8/layout/hChevron3"/>
    <dgm:cxn modelId="{957A34FD-D072-4340-8E45-DA05EE069966}" type="presParOf" srcId="{16645716-9447-489A-9253-3C668DC0BFA9}" destId="{1A910B56-00C3-456F-9B67-AEE85DF89BEF}" srcOrd="2" destOrd="0" presId="urn:microsoft.com/office/officeart/2005/8/layout/hChevron3"/>
    <dgm:cxn modelId="{BECF7310-6645-4517-8E35-7CCD296F249B}" type="presParOf" srcId="{16645716-9447-489A-9253-3C668DC0BFA9}" destId="{261A8744-5A80-4F0B-BEB4-9033CAC50467}" srcOrd="3" destOrd="0" presId="urn:microsoft.com/office/officeart/2005/8/layout/hChevron3"/>
    <dgm:cxn modelId="{E9F0E26B-FB27-48AE-B67B-042CB8B6D9A7}" type="presParOf" srcId="{16645716-9447-489A-9253-3C668DC0BFA9}" destId="{AF107700-5FD3-4AD0-8CCE-465139A8BB94}" srcOrd="4" destOrd="0" presId="urn:microsoft.com/office/officeart/2005/8/layout/hChevron3"/>
    <dgm:cxn modelId="{24ED98CC-DA36-429D-896A-4FF926953ED2}" type="presParOf" srcId="{16645716-9447-489A-9253-3C668DC0BFA9}" destId="{43795C59-4FE0-49DE-9D23-9CA5546E3FAB}" srcOrd="5" destOrd="0" presId="urn:microsoft.com/office/officeart/2005/8/layout/hChevron3"/>
    <dgm:cxn modelId="{111D8403-EA9D-409E-968B-636C86D8CD4E}" type="presParOf" srcId="{16645716-9447-489A-9253-3C668DC0BFA9}" destId="{8D6142F9-BA5F-4CAD-9383-E36BEC77C5EC}" srcOrd="6" destOrd="0" presId="urn:microsoft.com/office/officeart/2005/8/layout/hChevron3"/>
    <dgm:cxn modelId="{08945546-6A9E-4B71-BF78-D2E4DB907D39}" type="presParOf" srcId="{16645716-9447-489A-9253-3C668DC0BFA9}" destId="{4424CE31-C161-42DC-B871-F29DE5B216A1}" srcOrd="7" destOrd="0" presId="urn:microsoft.com/office/officeart/2005/8/layout/hChevron3"/>
    <dgm:cxn modelId="{647E39BC-EBBE-4E2B-8265-B47EEDB11F1C}" type="presParOf" srcId="{16645716-9447-489A-9253-3C668DC0BFA9}" destId="{2C4E2632-8D32-4245-84E7-296B42CF8379}" srcOrd="8" destOrd="0" presId="urn:microsoft.com/office/officeart/2005/8/layout/hChevron3"/>
    <dgm:cxn modelId="{9A4B6A87-0957-4EB3-8AC5-D8EB2FC82B18}" type="presParOf" srcId="{16645716-9447-489A-9253-3C668DC0BFA9}" destId="{2F47E316-EC1E-4030-A462-204DCE794F3C}" srcOrd="9" destOrd="0" presId="urn:microsoft.com/office/officeart/2005/8/layout/hChevron3"/>
    <dgm:cxn modelId="{236FCDC7-9F82-4FB3-AB31-A47D9E60CE98}" type="presParOf" srcId="{16645716-9447-489A-9253-3C668DC0BFA9}" destId="{8E0A4277-DBDD-4138-9572-D864D3F99494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F0A85-78C4-44EA-BB8B-29C058305D18}">
      <dsp:nvSpPr>
        <dsp:cNvPr id="0" name=""/>
        <dsp:cNvSpPr/>
      </dsp:nvSpPr>
      <dsp:spPr>
        <a:xfrm>
          <a:off x="1192" y="237494"/>
          <a:ext cx="1953422" cy="781368"/>
        </a:xfrm>
        <a:prstGeom prst="homePlate">
          <a:avLst/>
        </a:prstGeom>
        <a:solidFill>
          <a:schemeClr val="tx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 dirty="0">
              <a:latin typeface="Arial" panose="020B0604020202020204" pitchFamily="34" charset="0"/>
              <a:cs typeface="Arial" panose="020B0604020202020204" pitchFamily="34" charset="0"/>
            </a:rPr>
            <a:t>Análisis de Requerimientos</a:t>
          </a:r>
        </a:p>
      </dsp:txBody>
      <dsp:txXfrm>
        <a:off x="1192" y="237494"/>
        <a:ext cx="1758080" cy="781368"/>
      </dsp:txXfrm>
    </dsp:sp>
    <dsp:sp modelId="{1A910B56-00C3-456F-9B67-AEE85DF89BEF}">
      <dsp:nvSpPr>
        <dsp:cNvPr id="0" name=""/>
        <dsp:cNvSpPr/>
      </dsp:nvSpPr>
      <dsp:spPr>
        <a:xfrm>
          <a:off x="1563930" y="237494"/>
          <a:ext cx="1953422" cy="781368"/>
        </a:xfrm>
        <a:prstGeom prst="chevron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Planificación y Diseño</a:t>
          </a:r>
        </a:p>
      </dsp:txBody>
      <dsp:txXfrm>
        <a:off x="1954614" y="237494"/>
        <a:ext cx="1172054" cy="781368"/>
      </dsp:txXfrm>
    </dsp:sp>
    <dsp:sp modelId="{AF107700-5FD3-4AD0-8CCE-465139A8BB94}">
      <dsp:nvSpPr>
        <dsp:cNvPr id="0" name=""/>
        <dsp:cNvSpPr/>
      </dsp:nvSpPr>
      <dsp:spPr>
        <a:xfrm>
          <a:off x="3126668" y="229618"/>
          <a:ext cx="1953422" cy="781368"/>
        </a:xfrm>
        <a:prstGeom prst="chevron">
          <a:avLst/>
        </a:prstGeom>
        <a:solidFill>
          <a:srgbClr val="0070C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 dirty="0">
              <a:latin typeface="Arial" panose="020B0604020202020204" pitchFamily="34" charset="0"/>
              <a:cs typeface="Arial" panose="020B0604020202020204" pitchFamily="34" charset="0"/>
            </a:rPr>
            <a:t>Desarrollo</a:t>
          </a:r>
        </a:p>
      </dsp:txBody>
      <dsp:txXfrm>
        <a:off x="3517352" y="229618"/>
        <a:ext cx="1172054" cy="781368"/>
      </dsp:txXfrm>
    </dsp:sp>
    <dsp:sp modelId="{8D6142F9-BA5F-4CAD-9383-E36BEC77C5EC}">
      <dsp:nvSpPr>
        <dsp:cNvPr id="0" name=""/>
        <dsp:cNvSpPr/>
      </dsp:nvSpPr>
      <dsp:spPr>
        <a:xfrm>
          <a:off x="4689406" y="237494"/>
          <a:ext cx="1953422" cy="781368"/>
        </a:xfrm>
        <a:prstGeom prst="chevron">
          <a:avLst/>
        </a:prstGeom>
        <a:solidFill>
          <a:srgbClr val="0066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 dirty="0">
              <a:latin typeface="Arial" panose="020B0604020202020204" pitchFamily="34" charset="0"/>
              <a:cs typeface="Arial" panose="020B0604020202020204" pitchFamily="34" charset="0"/>
            </a:rPr>
            <a:t>Pruebas</a:t>
          </a:r>
          <a:endParaRPr lang="es-MX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80090" y="237494"/>
        <a:ext cx="1172054" cy="781368"/>
      </dsp:txXfrm>
    </dsp:sp>
    <dsp:sp modelId="{2C4E2632-8D32-4245-84E7-296B42CF8379}">
      <dsp:nvSpPr>
        <dsp:cNvPr id="0" name=""/>
        <dsp:cNvSpPr/>
      </dsp:nvSpPr>
      <dsp:spPr>
        <a:xfrm>
          <a:off x="6252144" y="237494"/>
          <a:ext cx="1953422" cy="781368"/>
        </a:xfrm>
        <a:prstGeom prst="chevron">
          <a:avLst/>
        </a:prstGeom>
        <a:solidFill>
          <a:srgbClr val="CC33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 dirty="0">
              <a:latin typeface="Arial" panose="020B0604020202020204" pitchFamily="34" charset="0"/>
              <a:cs typeface="Arial" panose="020B0604020202020204" pitchFamily="34" charset="0"/>
            </a:rPr>
            <a:t> Implementación</a:t>
          </a:r>
          <a:endParaRPr lang="es-MX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42828" y="237494"/>
        <a:ext cx="1172054" cy="781368"/>
      </dsp:txXfrm>
    </dsp:sp>
    <dsp:sp modelId="{8E0A4277-DBDD-4138-9572-D864D3F99494}">
      <dsp:nvSpPr>
        <dsp:cNvPr id="0" name=""/>
        <dsp:cNvSpPr/>
      </dsp:nvSpPr>
      <dsp:spPr>
        <a:xfrm>
          <a:off x="7814882" y="237494"/>
          <a:ext cx="1953422" cy="781368"/>
        </a:xfrm>
        <a:prstGeom prst="chevron">
          <a:avLst/>
        </a:prstGeom>
        <a:solidFill>
          <a:srgbClr val="0066FF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 dirty="0"/>
            <a:t>Mantenimiento y Soporte</a:t>
          </a:r>
          <a:endParaRPr lang="es-MX" sz="1200" kern="1200" dirty="0"/>
        </a:p>
      </dsp:txBody>
      <dsp:txXfrm>
        <a:off x="8205566" y="237494"/>
        <a:ext cx="1172054" cy="7813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/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2927" cy="463853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3" name="Marcador de fecha 2">
            <a:extLst/>
          </p:cNvPr>
          <p:cNvSpPr>
            <a:spLocks noGrp="1"/>
          </p:cNvSpPr>
          <p:nvPr>
            <p:ph type="dt" sz="quarter" idx="1"/>
          </p:nvPr>
        </p:nvSpPr>
        <p:spPr>
          <a:xfrm>
            <a:off x="3935547" y="0"/>
            <a:ext cx="3012926" cy="463853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930D525C-E848-4620-A49F-C6EAED4034F0}" type="datetimeFigureOut">
              <a:rPr lang="es-SV"/>
              <a:pPr>
                <a:defRPr/>
              </a:pPr>
              <a:t>1/9/2025</a:t>
            </a:fld>
            <a:endParaRPr lang="x-none"/>
          </a:p>
        </p:txBody>
      </p:sp>
      <p:sp>
        <p:nvSpPr>
          <p:cNvPr id="4" name="Marcador de pie de página 3">
            <a:extLst/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224"/>
            <a:ext cx="3012927" cy="46385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5" name="Marcador de número de diapositiva 4">
            <a:extLst/>
          </p:cNvPr>
          <p:cNvSpPr>
            <a:spLocks noGrp="1"/>
          </p:cNvSpPr>
          <p:nvPr>
            <p:ph type="sldNum" sz="quarter" idx="3"/>
          </p:nvPr>
        </p:nvSpPr>
        <p:spPr>
          <a:xfrm>
            <a:off x="3935547" y="8772224"/>
            <a:ext cx="3012926" cy="463852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DBE595C-DF2E-4092-A9F2-5012295229BF}" type="slidenum">
              <a:rPr lang="es-SV" altLang="es-419"/>
              <a:pPr>
                <a:defRPr/>
              </a:pPr>
              <a:t>‹Nº›</a:t>
            </a:fld>
            <a:endParaRPr lang="es-SV" altLang="es-419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/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2927" cy="4638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SV" dirty="0"/>
          </a:p>
        </p:txBody>
      </p:sp>
      <p:sp>
        <p:nvSpPr>
          <p:cNvPr id="3" name="Marcador de fecha 2">
            <a:extLst/>
          </p:cNvPr>
          <p:cNvSpPr>
            <a:spLocks noGrp="1"/>
          </p:cNvSpPr>
          <p:nvPr>
            <p:ph type="dt" idx="1"/>
          </p:nvPr>
        </p:nvSpPr>
        <p:spPr>
          <a:xfrm>
            <a:off x="3935547" y="0"/>
            <a:ext cx="3012926" cy="4638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4FC0D33-81E5-4979-AB6F-94C6F67DC6D4}" type="datetimeFigureOut">
              <a:rPr lang="es-SV"/>
              <a:pPr>
                <a:defRPr/>
              </a:pPr>
              <a:t>30/8/2025</a:t>
            </a:fld>
            <a:endParaRPr lang="es-SV" dirty="0"/>
          </a:p>
        </p:txBody>
      </p:sp>
      <p:sp>
        <p:nvSpPr>
          <p:cNvPr id="4" name="Marcador de imagen de diapositiva 3">
            <a:extLst/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36650" y="1154113"/>
            <a:ext cx="46767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SV" noProof="0" dirty="0"/>
          </a:p>
        </p:txBody>
      </p:sp>
      <p:sp>
        <p:nvSpPr>
          <p:cNvPr id="5" name="Marcador de notas 4">
            <a:extLst/>
          </p:cNvPr>
          <p:cNvSpPr>
            <a:spLocks noGrp="1"/>
          </p:cNvSpPr>
          <p:nvPr>
            <p:ph type="body" sz="quarter" idx="3"/>
          </p:nvPr>
        </p:nvSpPr>
        <p:spPr>
          <a:xfrm>
            <a:off x="695168" y="4443911"/>
            <a:ext cx="5559740" cy="363765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SV" noProof="0"/>
          </a:p>
        </p:txBody>
      </p:sp>
      <p:sp>
        <p:nvSpPr>
          <p:cNvPr id="6" name="Marcador de pie de página 5">
            <a:extLst/>
          </p:cNvPr>
          <p:cNvSpPr>
            <a:spLocks noGrp="1"/>
          </p:cNvSpPr>
          <p:nvPr>
            <p:ph type="ftr" sz="quarter" idx="4"/>
          </p:nvPr>
        </p:nvSpPr>
        <p:spPr>
          <a:xfrm>
            <a:off x="0" y="8772224"/>
            <a:ext cx="3012927" cy="4638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SV" dirty="0"/>
          </a:p>
        </p:txBody>
      </p:sp>
      <p:sp>
        <p:nvSpPr>
          <p:cNvPr id="7" name="Marcador de número de diapositiva 6">
            <a:extLst/>
          </p:cNvPr>
          <p:cNvSpPr>
            <a:spLocks noGrp="1"/>
          </p:cNvSpPr>
          <p:nvPr>
            <p:ph type="sldNum" sz="quarter" idx="5"/>
          </p:nvPr>
        </p:nvSpPr>
        <p:spPr>
          <a:xfrm>
            <a:off x="3935547" y="8772224"/>
            <a:ext cx="3012926" cy="4638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7003DD9-6C03-411F-BEB6-7962AB7EF2E8}" type="slidenum">
              <a:rPr lang="es-SV"/>
              <a:pPr>
                <a:defRPr/>
              </a:pPr>
              <a:t>‹Nº›</a:t>
            </a:fld>
            <a:endParaRPr lang="es-SV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03DD9-6C03-411F-BEB6-7962AB7EF2E8}" type="slidenum">
              <a:rPr lang="es-SV" smtClean="0"/>
              <a:pPr>
                <a:defRPr/>
              </a:pPr>
              <a:t>1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50412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SV" altLang="es-SV" dirty="0"/>
          </a:p>
        </p:txBody>
      </p:sp>
      <p:sp>
        <p:nvSpPr>
          <p:cNvPr id="7172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987DB29C-0411-4F64-A87E-688A4DE6D994}" type="slidenum">
              <a:rPr lang="es-SV" altLang="es-SV" smtClean="0"/>
              <a:pPr/>
              <a:t>2</a:t>
            </a:fld>
            <a:endParaRPr lang="es-SV" altLang="es-SV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SV" altLang="es-SV"/>
          </a:p>
        </p:txBody>
      </p:sp>
      <p:sp>
        <p:nvSpPr>
          <p:cNvPr id="7172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7DB29C-0411-4F64-A87E-688A4DE6D994}" type="slidenum">
              <a:rPr kumimoji="0" lang="es-SV" altLang="es-SV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SV" altLang="es-SV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913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03DD9-6C03-411F-BEB6-7962AB7EF2E8}" type="slidenum">
              <a:rPr lang="es-SV" smtClean="0"/>
              <a:pPr>
                <a:defRPr/>
              </a:pPr>
              <a:t>12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87679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03DD9-6C03-411F-BEB6-7962AB7EF2E8}" type="slidenum">
              <a:rPr lang="es-SV" smtClean="0"/>
              <a:pPr>
                <a:defRPr/>
              </a:pPr>
              <a:t>14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294463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71525" y="2130428"/>
            <a:ext cx="8743950" cy="1470025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3050" y="3886200"/>
            <a:ext cx="72009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4234-9366-4242-A9B4-A05CA0C90622}" type="datetimeFigureOut">
              <a:rPr lang="es-ES"/>
              <a:pPr>
                <a:defRPr/>
              </a:pPr>
              <a:t>30/08/2025</a:t>
            </a:fld>
            <a:endParaRPr lang="es-ES" dirty="0"/>
          </a:p>
        </p:txBody>
      </p:sp>
      <p:sp>
        <p:nvSpPr>
          <p:cNvPr id="5" name="Marcador de pie de página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E69B0-2B42-437E-B5FF-DA1C3193F485}" type="slidenum">
              <a:rPr lang="es-ES" altLang="es-419"/>
              <a:pPr>
                <a:defRPr/>
              </a:pPr>
              <a:t>‹Nº›</a:t>
            </a:fld>
            <a:endParaRPr lang="es-ES" altLang="es-419" dirty="0"/>
          </a:p>
        </p:txBody>
      </p:sp>
    </p:spTree>
    <p:extLst>
      <p:ext uri="{BB962C8B-B14F-4D97-AF65-F5344CB8AC3E}">
        <p14:creationId xmlns:p14="http://schemas.microsoft.com/office/powerpoint/2010/main" val="436496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4CCAA8-9AE3-4BF8-B65E-14880BDAA225}" type="datetimeFigureOut">
              <a:rPr lang="es-ES"/>
              <a:pPr>
                <a:defRPr/>
              </a:pPr>
              <a:t>30/08/2025</a:t>
            </a:fld>
            <a:endParaRPr lang="es-ES" dirty="0"/>
          </a:p>
        </p:txBody>
      </p:sp>
      <p:sp>
        <p:nvSpPr>
          <p:cNvPr id="5" name="Marcador de pie de página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975AD8-0720-45A9-BE13-FF393B88F729}" type="slidenum">
              <a:rPr lang="es-ES" altLang="es-419"/>
              <a:pPr>
                <a:defRPr/>
              </a:pPr>
              <a:t>‹Nº›</a:t>
            </a:fld>
            <a:endParaRPr lang="es-ES" altLang="es-419" dirty="0"/>
          </a:p>
        </p:txBody>
      </p:sp>
    </p:spTree>
    <p:extLst>
      <p:ext uri="{BB962C8B-B14F-4D97-AF65-F5344CB8AC3E}">
        <p14:creationId xmlns:p14="http://schemas.microsoft.com/office/powerpoint/2010/main" val="1730788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602" y="4406903"/>
            <a:ext cx="874395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12602" y="2906713"/>
            <a:ext cx="874395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BFC21-C1C5-451A-80D3-6FCC28C65A20}" type="datetimeFigureOut">
              <a:rPr lang="es-ES"/>
              <a:pPr>
                <a:defRPr/>
              </a:pPr>
              <a:t>30/08/2025</a:t>
            </a:fld>
            <a:endParaRPr lang="es-ES" dirty="0"/>
          </a:p>
        </p:txBody>
      </p:sp>
      <p:sp>
        <p:nvSpPr>
          <p:cNvPr id="5" name="Marcador de pie de página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3CA03-A59D-4D3B-99F4-A8B523740494}" type="slidenum">
              <a:rPr lang="es-ES" altLang="es-419"/>
              <a:pPr>
                <a:defRPr/>
              </a:pPr>
              <a:t>‹Nº›</a:t>
            </a:fld>
            <a:endParaRPr lang="es-ES" altLang="es-419" dirty="0"/>
          </a:p>
        </p:txBody>
      </p:sp>
    </p:spTree>
    <p:extLst>
      <p:ext uri="{BB962C8B-B14F-4D97-AF65-F5344CB8AC3E}">
        <p14:creationId xmlns:p14="http://schemas.microsoft.com/office/powerpoint/2010/main" val="2989048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514350" y="1600203"/>
            <a:ext cx="4543425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229225" y="1600203"/>
            <a:ext cx="4543425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FD16C-0422-4D02-812C-BE0D8F078DFD}" type="datetimeFigureOut">
              <a:rPr lang="es-ES"/>
              <a:pPr>
                <a:defRPr/>
              </a:pPr>
              <a:t>30/08/2025</a:t>
            </a:fld>
            <a:endParaRPr lang="es-ES" dirty="0"/>
          </a:p>
        </p:txBody>
      </p:sp>
      <p:sp>
        <p:nvSpPr>
          <p:cNvPr id="6" name="Marcador de pie de página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183EE-A5D5-4E3D-A6EC-6CEA12189A99}" type="slidenum">
              <a:rPr lang="es-ES" altLang="es-419"/>
              <a:pPr>
                <a:defRPr/>
              </a:pPr>
              <a:t>‹Nº›</a:t>
            </a:fld>
            <a:endParaRPr lang="es-ES" altLang="es-419" dirty="0"/>
          </a:p>
        </p:txBody>
      </p:sp>
    </p:spTree>
    <p:extLst>
      <p:ext uri="{BB962C8B-B14F-4D97-AF65-F5344CB8AC3E}">
        <p14:creationId xmlns:p14="http://schemas.microsoft.com/office/powerpoint/2010/main" val="1198303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14350" y="1535113"/>
            <a:ext cx="4545212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14350" y="2174875"/>
            <a:ext cx="4545212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5225655" y="1535113"/>
            <a:ext cx="454699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5225655" y="2174875"/>
            <a:ext cx="454699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8D45F-B82D-496D-A65D-8DE3F9FA3CE7}" type="datetimeFigureOut">
              <a:rPr lang="es-ES"/>
              <a:pPr>
                <a:defRPr/>
              </a:pPr>
              <a:t>30/08/2025</a:t>
            </a:fld>
            <a:endParaRPr lang="es-ES" dirty="0"/>
          </a:p>
        </p:txBody>
      </p:sp>
      <p:sp>
        <p:nvSpPr>
          <p:cNvPr id="8" name="Marcador de pie de página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9" name="Marcador de número de diapositiva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F8F02-6AD7-4296-BEDA-7897C37D6626}" type="slidenum">
              <a:rPr lang="es-ES" altLang="es-419"/>
              <a:pPr>
                <a:defRPr/>
              </a:pPr>
              <a:t>‹Nº›</a:t>
            </a:fld>
            <a:endParaRPr lang="es-ES" altLang="es-419" dirty="0"/>
          </a:p>
        </p:txBody>
      </p:sp>
    </p:spTree>
    <p:extLst>
      <p:ext uri="{BB962C8B-B14F-4D97-AF65-F5344CB8AC3E}">
        <p14:creationId xmlns:p14="http://schemas.microsoft.com/office/powerpoint/2010/main" val="1323148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9E15D3-C580-46C5-87FD-D0067F4DDC9D}" type="datetimeFigureOut">
              <a:rPr lang="es-ES"/>
              <a:pPr>
                <a:defRPr/>
              </a:pPr>
              <a:t>30/08/2025</a:t>
            </a:fld>
            <a:endParaRPr lang="es-ES" dirty="0"/>
          </a:p>
        </p:txBody>
      </p:sp>
      <p:sp>
        <p:nvSpPr>
          <p:cNvPr id="4" name="Marcador de pie de página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Marcador de número de diapositiva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C79F6-C7AF-4D9B-AC06-ACED002851D9}" type="slidenum">
              <a:rPr lang="es-ES" altLang="es-419"/>
              <a:pPr>
                <a:defRPr/>
              </a:pPr>
              <a:t>‹Nº›</a:t>
            </a:fld>
            <a:endParaRPr lang="es-ES" altLang="es-419" dirty="0"/>
          </a:p>
        </p:txBody>
      </p:sp>
    </p:spTree>
    <p:extLst>
      <p:ext uri="{BB962C8B-B14F-4D97-AF65-F5344CB8AC3E}">
        <p14:creationId xmlns:p14="http://schemas.microsoft.com/office/powerpoint/2010/main" val="341601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5DEA4-B246-4611-8B7D-3F1AC7AAE815}" type="datetimeFigureOut">
              <a:rPr lang="es-ES"/>
              <a:pPr>
                <a:defRPr/>
              </a:pPr>
              <a:t>30/08/2025</a:t>
            </a:fld>
            <a:endParaRPr lang="es-ES" dirty="0"/>
          </a:p>
        </p:txBody>
      </p:sp>
      <p:sp>
        <p:nvSpPr>
          <p:cNvPr id="3" name="Marcador de pie de página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4" name="Marcador de número de diapositiva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AA626E-C990-4936-BF50-365FCB58C26D}" type="slidenum">
              <a:rPr lang="es-ES" altLang="es-419"/>
              <a:pPr>
                <a:defRPr/>
              </a:pPr>
              <a:t>‹Nº›</a:t>
            </a:fld>
            <a:endParaRPr lang="es-ES" altLang="es-419" dirty="0"/>
          </a:p>
        </p:txBody>
      </p:sp>
    </p:spTree>
    <p:extLst>
      <p:ext uri="{BB962C8B-B14F-4D97-AF65-F5344CB8AC3E}">
        <p14:creationId xmlns:p14="http://schemas.microsoft.com/office/powerpoint/2010/main" val="4258392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14352" y="273050"/>
            <a:ext cx="3384352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021931" y="273053"/>
            <a:ext cx="5750719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514352" y="1435103"/>
            <a:ext cx="3384352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902F7-ACA4-4E17-B68E-173B71B6FEE0}" type="datetimeFigureOut">
              <a:rPr lang="es-ES"/>
              <a:pPr>
                <a:defRPr/>
              </a:pPr>
              <a:t>30/08/2025</a:t>
            </a:fld>
            <a:endParaRPr lang="es-ES" dirty="0"/>
          </a:p>
        </p:txBody>
      </p:sp>
      <p:sp>
        <p:nvSpPr>
          <p:cNvPr id="6" name="Marcador de pie de página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7A980-2BD8-4FFE-AB62-41929D6DAB91}" type="slidenum">
              <a:rPr lang="es-ES" altLang="es-419"/>
              <a:pPr>
                <a:defRPr/>
              </a:pPr>
              <a:t>‹Nº›</a:t>
            </a:fld>
            <a:endParaRPr lang="es-ES" altLang="es-419" dirty="0"/>
          </a:p>
        </p:txBody>
      </p:sp>
    </p:spTree>
    <p:extLst>
      <p:ext uri="{BB962C8B-B14F-4D97-AF65-F5344CB8AC3E}">
        <p14:creationId xmlns:p14="http://schemas.microsoft.com/office/powerpoint/2010/main" val="3573231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16324" y="4800600"/>
            <a:ext cx="6172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016324" y="612775"/>
            <a:ext cx="6172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016324" y="5367338"/>
            <a:ext cx="6172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E36120-92D1-4270-8333-A241AB1BD2C4}" type="datetimeFigureOut">
              <a:rPr lang="es-ES"/>
              <a:pPr>
                <a:defRPr/>
              </a:pPr>
              <a:t>30/08/2025</a:t>
            </a:fld>
            <a:endParaRPr lang="es-ES" dirty="0"/>
          </a:p>
        </p:txBody>
      </p:sp>
      <p:sp>
        <p:nvSpPr>
          <p:cNvPr id="6" name="Marcador de pie de página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18A8F-D601-47A3-875C-48F9F13EA1C5}" type="slidenum">
              <a:rPr lang="es-ES" altLang="es-419"/>
              <a:pPr>
                <a:defRPr/>
              </a:pPr>
              <a:t>‹Nº›</a:t>
            </a:fld>
            <a:endParaRPr lang="es-ES" altLang="es-419" dirty="0"/>
          </a:p>
        </p:txBody>
      </p:sp>
    </p:spTree>
    <p:extLst>
      <p:ext uri="{BB962C8B-B14F-4D97-AF65-F5344CB8AC3E}">
        <p14:creationId xmlns:p14="http://schemas.microsoft.com/office/powerpoint/2010/main" val="2890713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230F1A-9A1D-4DF4-A007-4EF18D4EAA8A}" type="datetimeFigureOut">
              <a:rPr lang="es-ES"/>
              <a:pPr>
                <a:defRPr/>
              </a:pPr>
              <a:t>30/08/2025</a:t>
            </a:fld>
            <a:endParaRPr lang="es-ES" dirty="0"/>
          </a:p>
        </p:txBody>
      </p:sp>
      <p:sp>
        <p:nvSpPr>
          <p:cNvPr id="5" name="Marcador de pie de página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41A2E-CAE1-4196-8428-E80383D8D622}" type="slidenum">
              <a:rPr lang="es-ES" altLang="es-419"/>
              <a:pPr>
                <a:defRPr/>
              </a:pPr>
              <a:t>‹Nº›</a:t>
            </a:fld>
            <a:endParaRPr lang="es-ES" altLang="es-419" dirty="0"/>
          </a:p>
        </p:txBody>
      </p:sp>
    </p:spTree>
    <p:extLst>
      <p:ext uri="{BB962C8B-B14F-4D97-AF65-F5344CB8AC3E}">
        <p14:creationId xmlns:p14="http://schemas.microsoft.com/office/powerpoint/2010/main" val="177533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458075" y="274641"/>
            <a:ext cx="2314575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514350" y="274641"/>
            <a:ext cx="6772275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C7C2C2-5FDB-4C38-BA58-67C54A60E2E0}" type="datetimeFigureOut">
              <a:rPr lang="es-ES"/>
              <a:pPr>
                <a:defRPr/>
              </a:pPr>
              <a:t>30/08/2025</a:t>
            </a:fld>
            <a:endParaRPr lang="es-ES" dirty="0"/>
          </a:p>
        </p:txBody>
      </p:sp>
      <p:sp>
        <p:nvSpPr>
          <p:cNvPr id="5" name="Marcador de pie de página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C030C-721B-43B9-80BE-5994276F715F}" type="slidenum">
              <a:rPr lang="es-ES" altLang="es-419"/>
              <a:pPr>
                <a:defRPr/>
              </a:pPr>
              <a:t>‹Nº›</a:t>
            </a:fld>
            <a:endParaRPr lang="es-ES" altLang="es-419" dirty="0"/>
          </a:p>
        </p:txBody>
      </p:sp>
    </p:spTree>
    <p:extLst>
      <p:ext uri="{BB962C8B-B14F-4D97-AF65-F5344CB8AC3E}">
        <p14:creationId xmlns:p14="http://schemas.microsoft.com/office/powerpoint/2010/main" val="2447548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63585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514350" y="274638"/>
            <a:ext cx="92583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419"/>
              <a:t>Clic para editar título</a:t>
            </a:r>
            <a:endParaRPr lang="es-ES" altLang="es-419"/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514350" y="1600200"/>
            <a:ext cx="92583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419"/>
              <a:t>Haga clic para modificar el estilo de texto del patrón</a:t>
            </a:r>
          </a:p>
          <a:p>
            <a:pPr lvl="1"/>
            <a:r>
              <a:rPr lang="es-ES_tradnl" altLang="es-419"/>
              <a:t>Segundo nivel</a:t>
            </a:r>
          </a:p>
          <a:p>
            <a:pPr lvl="2"/>
            <a:r>
              <a:rPr lang="es-ES_tradnl" altLang="es-419"/>
              <a:t>Tercer nivel</a:t>
            </a:r>
          </a:p>
          <a:p>
            <a:pPr lvl="3"/>
            <a:r>
              <a:rPr lang="es-ES_tradnl" altLang="es-419"/>
              <a:t>Cuarto nivel</a:t>
            </a:r>
          </a:p>
          <a:p>
            <a:pPr lvl="4"/>
            <a:r>
              <a:rPr lang="es-ES_tradnl" altLang="es-419"/>
              <a:t>Quinto nivel</a:t>
            </a:r>
            <a:endParaRPr lang="es-ES" altLang="es-419"/>
          </a:p>
        </p:txBody>
      </p:sp>
      <p:sp>
        <p:nvSpPr>
          <p:cNvPr id="4" name="Marcador de fecha 3">
            <a:extLst/>
          </p:cNvPr>
          <p:cNvSpPr>
            <a:spLocks noGrp="1"/>
          </p:cNvSpPr>
          <p:nvPr>
            <p:ph type="dt" sz="half" idx="2"/>
          </p:nvPr>
        </p:nvSpPr>
        <p:spPr>
          <a:xfrm>
            <a:off x="514350" y="6356350"/>
            <a:ext cx="2400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64FEFA9-3A49-4517-94CE-E271E38973FF}" type="datetimeFigureOut">
              <a:rPr lang="es-ES"/>
              <a:pPr>
                <a:defRPr/>
              </a:pPr>
              <a:t>30/08/2025</a:t>
            </a:fld>
            <a:endParaRPr lang="es-ES" dirty="0"/>
          </a:p>
        </p:txBody>
      </p:sp>
      <p:sp>
        <p:nvSpPr>
          <p:cNvPr id="5" name="Marcador de pie de página 4">
            <a:extLst/>
          </p:cNvPr>
          <p:cNvSpPr>
            <a:spLocks noGrp="1"/>
          </p:cNvSpPr>
          <p:nvPr>
            <p:ph type="ftr" sz="quarter" idx="3"/>
          </p:nvPr>
        </p:nvSpPr>
        <p:spPr>
          <a:xfrm>
            <a:off x="3514725" y="6356350"/>
            <a:ext cx="3257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/>
          </p:cNvPr>
          <p:cNvSpPr>
            <a:spLocks noGrp="1"/>
          </p:cNvSpPr>
          <p:nvPr>
            <p:ph type="sldNum" sz="quarter" idx="4"/>
          </p:nvPr>
        </p:nvSpPr>
        <p:spPr>
          <a:xfrm>
            <a:off x="7372350" y="6356350"/>
            <a:ext cx="24003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C1B149F-B702-47DA-B220-04A163445B9D}" type="slidenum">
              <a:rPr lang="es-ES" altLang="es-419"/>
              <a:pPr>
                <a:defRPr/>
              </a:pPr>
              <a:t>‹Nº›</a:t>
            </a:fld>
            <a:endParaRPr lang="es-ES" altLang="es-419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ctr" defTabSz="342900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342900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2pPr>
      <a:lvl3pPr algn="ctr" defTabSz="342900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3pPr>
      <a:lvl4pPr algn="ctr" defTabSz="342900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4pPr>
      <a:lvl5pPr algn="ctr" defTabSz="342900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3429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3429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3429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3429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57175" indent="-257175" algn="l" defTabSz="3429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6593FF9-B336-43E4-9507-455E3E90099B}"/>
              </a:ext>
            </a:extLst>
          </p:cNvPr>
          <p:cNvSpPr txBox="1">
            <a:spLocks/>
          </p:cNvSpPr>
          <p:nvPr/>
        </p:nvSpPr>
        <p:spPr bwMode="auto">
          <a:xfrm>
            <a:off x="335903" y="2491275"/>
            <a:ext cx="9016417" cy="1390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342900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342900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342900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342900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 eaLnBrk="1" hangingPunct="1">
              <a:defRPr/>
            </a:pPr>
            <a:r>
              <a:rPr lang="es-MX" altLang="es-419" sz="4000" b="1" dirty="0">
                <a:solidFill>
                  <a:srgbClr val="004B93"/>
                </a:solidFill>
                <a:latin typeface="Calibri"/>
              </a:rPr>
              <a:t>ANÁLISIS – DESARROLLO E IMPLEMENTACIÓN DEL SISTEMA DE GESTION UNIVERSITARIO UEES.</a:t>
            </a:r>
          </a:p>
          <a:p>
            <a:pPr marL="0" marR="0" lvl="0" indent="0" algn="ctr" defTabSz="342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s-ES" altLang="es-419" sz="4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endParaRPr kumimoji="0" lang="es-ES" altLang="es-419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D36B11B-F534-4BED-BBA5-D0DB01027DB5}"/>
              </a:ext>
            </a:extLst>
          </p:cNvPr>
          <p:cNvSpPr txBox="1"/>
          <p:nvPr/>
        </p:nvSpPr>
        <p:spPr>
          <a:xfrm>
            <a:off x="3038637" y="4689986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SV" sz="2800" b="1" dirty="0">
                <a:solidFill>
                  <a:srgbClr val="004B93"/>
                </a:solidFill>
              </a:rPr>
              <a:t>Junio 2025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B6246D8-7554-4D97-BCE1-86DB561D8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29" y="93306"/>
            <a:ext cx="1091279" cy="8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632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redondeado 4"/>
          <p:cNvSpPr/>
          <p:nvPr/>
        </p:nvSpPr>
        <p:spPr>
          <a:xfrm>
            <a:off x="617701" y="617549"/>
            <a:ext cx="3867503" cy="538743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1. </a:t>
            </a:r>
            <a:r>
              <a:rPr kumimoji="0" lang="es-SV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Introducción</a:t>
            </a: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:</a:t>
            </a:r>
            <a:endParaRPr kumimoji="0" lang="es-SV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B317F40-E049-4B7B-9BE5-BCD911AB2397}"/>
              </a:ext>
            </a:extLst>
          </p:cNvPr>
          <p:cNvSpPr/>
          <p:nvPr/>
        </p:nvSpPr>
        <p:spPr>
          <a:xfrm>
            <a:off x="345326" y="1599005"/>
            <a:ext cx="919810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419" dirty="0"/>
              <a:t>La Universidad Evangélica de El Salvador (UEES) se encuentra en un proceso de transformación organizacional con enfoque en transformación digital buscando la eficiencia y enfoque al usuario. Actualmente, el sistema en uso, CLASS WEB, si bien ha sido funcional en su momento, ya no responde adecuadamente a las demandas dinámicas y crecientes de los procesos universitarios. Además, presenta limitaciones en cuanto a trazabilidad integral y su mantenimiento técnico por parte del proveedor INNOVASOFT ya no es factible. Ante este contexto, el proyecto propone el diseño, desarrollo e implementación de un nuevo Sistema Integrado de Gestión Universitaria que permite la interoperabilidad, escalabilidad y eficiencia y centralice los procesos académicos, financieros y de talento humano. Esta iniciativa busca fortalecer la toma de decisiones basada en datos, optimizar la experiencia del estudiante y garantizar una infraestructura tecnológica segura, escalable y sostenible para los próximos 10 años.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72801DF1-F393-4DD5-A69E-AA0D73C87EFA}"/>
              </a:ext>
            </a:extLst>
          </p:cNvPr>
          <p:cNvSpPr/>
          <p:nvPr/>
        </p:nvSpPr>
        <p:spPr>
          <a:xfrm>
            <a:off x="832305" y="327784"/>
            <a:ext cx="3867503" cy="538743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2. Objetivos del proyecto: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5E8209A-6A96-4AA3-8C8B-E05BC823CC5B}"/>
              </a:ext>
            </a:extLst>
          </p:cNvPr>
          <p:cNvSpPr/>
          <p:nvPr/>
        </p:nvSpPr>
        <p:spPr>
          <a:xfrm>
            <a:off x="291093" y="1854387"/>
            <a:ext cx="8817429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419" dirty="0"/>
              <a:t>Diseñar e implementar un sistema integrado que centralice y optimice los procesos académicos, financieros, de talento humano y de planillas, garantizando </a:t>
            </a:r>
            <a:r>
              <a:rPr lang="es-419" b="1" dirty="0"/>
              <a:t>interoperabilidad</a:t>
            </a:r>
            <a:r>
              <a:rPr lang="es-419" dirty="0"/>
              <a:t>, </a:t>
            </a:r>
            <a:r>
              <a:rPr lang="es-419" b="1" dirty="0"/>
              <a:t>escalabilidad</a:t>
            </a:r>
            <a:r>
              <a:rPr lang="es-419" dirty="0"/>
              <a:t> y </a:t>
            </a:r>
            <a:r>
              <a:rPr lang="es-419" b="1" dirty="0"/>
              <a:t>eficiencia.</a:t>
            </a:r>
            <a:endParaRPr lang="es-MX" dirty="0"/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solidFill>
                  <a:schemeClr val="tx1"/>
                </a:solidFill>
              </a:rPr>
              <a:t>Incorporar innovación tecnológica y analítica avanzada (Big Data) para la toma de decisiones estratégicas.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solidFill>
                  <a:schemeClr val="tx1"/>
                </a:solidFill>
              </a:rPr>
              <a:t>Contar con un sistema con enfoque al usuario que agregue valor y mejore la experiencia del estudiante, mediante procesos más ágiles, accesibles y personalizados.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solidFill>
                  <a:schemeClr val="tx1"/>
                </a:solidFill>
              </a:rPr>
              <a:t>Fortalecer las decisiones basadas en datos de tal manera que la información permita tableros de control en tiempo real del BSC alienado al PEI.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solidFill>
                  <a:schemeClr val="tx1"/>
                </a:solidFill>
              </a:rPr>
              <a:t>Construir una arquitectura tecnológica escalable, segura y sostenible para los próximos 10 años.</a:t>
            </a:r>
            <a:endParaRPr lang="es-SV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970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AC8172E-EC84-45B5-98D5-437821EA6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721" y="89951"/>
            <a:ext cx="1091279" cy="890093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CF5C8AF7-3673-4754-8FDE-1CF86E1C2551}"/>
              </a:ext>
            </a:extLst>
          </p:cNvPr>
          <p:cNvSpPr txBox="1"/>
          <p:nvPr/>
        </p:nvSpPr>
        <p:spPr>
          <a:xfrm>
            <a:off x="260266" y="6513625"/>
            <a:ext cx="5398200" cy="22826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marR="62865" lvl="0" indent="0" algn="just" defTabSz="4572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/>
                <a:ea typeface="+mn-ea"/>
                <a:cs typeface="Microsoft Sans Serif"/>
              </a:rPr>
              <a:t>Fuente: Plan Estratégico Institucional 2022 – 2025, Págs. 12, 27 y 42</a:t>
            </a:r>
          </a:p>
        </p:txBody>
      </p:sp>
      <p:sp>
        <p:nvSpPr>
          <p:cNvPr id="14" name="Rectángulo redondeado 4">
            <a:extLst>
              <a:ext uri="{FF2B5EF4-FFF2-40B4-BE49-F238E27FC236}">
                <a16:creationId xmlns:a16="http://schemas.microsoft.com/office/drawing/2014/main" id="{01C91C0C-DBF5-45A3-940C-20349AC95C76}"/>
              </a:ext>
            </a:extLst>
          </p:cNvPr>
          <p:cNvSpPr/>
          <p:nvPr/>
        </p:nvSpPr>
        <p:spPr>
          <a:xfrm>
            <a:off x="402832" y="480379"/>
            <a:ext cx="7743189" cy="538743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SV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SV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3. </a:t>
            </a: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Relacionamiento con el plan estratégico 2022-2025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SV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4A660C63-6208-4C2A-B343-6183DA8667C4}"/>
              </a:ext>
            </a:extLst>
          </p:cNvPr>
          <p:cNvSpPr txBox="1"/>
          <p:nvPr/>
        </p:nvSpPr>
        <p:spPr>
          <a:xfrm>
            <a:off x="614371" y="1102694"/>
            <a:ext cx="9272109" cy="1133131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marR="62865" lvl="0" algn="ctr">
              <a:lnSpc>
                <a:spcPct val="150000"/>
              </a:lnSpc>
              <a:spcBef>
                <a:spcPts val="100"/>
              </a:spcBef>
              <a:defRPr/>
            </a:pPr>
            <a:r>
              <a:rPr kumimoji="0" lang="es-MX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/>
                <a:ea typeface="+mn-ea"/>
                <a:cs typeface="Microsoft Sans Serif"/>
              </a:rPr>
              <a:t>Perspectiva: </a:t>
            </a:r>
            <a:r>
              <a:rPr lang="es-MX" b="1" dirty="0"/>
              <a:t>SOSTENIBILIDAD FINANCIERA Y TRANSFORMACIÓN DIGITAL </a:t>
            </a:r>
            <a:endParaRPr kumimoji="0" lang="es-MX" sz="1600" b="1" i="0" u="none" strike="noStrike" kern="120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/>
              <a:ea typeface="+mn-ea"/>
              <a:cs typeface="Microsoft Sans Serif"/>
            </a:endParaRPr>
          </a:p>
          <a:p>
            <a:pPr marL="12700" marR="62865" lvl="0" algn="just">
              <a:lnSpc>
                <a:spcPct val="150000"/>
              </a:lnSpc>
              <a:spcBef>
                <a:spcPts val="100"/>
              </a:spcBef>
              <a:defRPr/>
            </a:pPr>
            <a:r>
              <a:rPr kumimoji="0" lang="es-MX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/>
                <a:ea typeface="+mn-ea"/>
                <a:cs typeface="Microsoft Sans Serif"/>
              </a:rPr>
              <a:t>Objetivo Estratégico</a:t>
            </a:r>
            <a:r>
              <a:rPr lang="es-MX" sz="1600" b="1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: </a:t>
            </a:r>
            <a:r>
              <a:rPr lang="es-MX" sz="1600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Modernizar, innovar y desarrollar proyectos de infraestructura física y tecnológica cumpliendo el 100% de la planificación anual.</a:t>
            </a:r>
            <a:endParaRPr kumimoji="0" lang="es-MX" sz="1600" i="0" u="none" strike="noStrike" kern="120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/>
              <a:ea typeface="+mn-ea"/>
              <a:cs typeface="Microsoft Sans Serif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EFC8FD23-F9C4-485B-9FDC-4F3FA583C29F}"/>
              </a:ext>
            </a:extLst>
          </p:cNvPr>
          <p:cNvSpPr txBox="1"/>
          <p:nvPr/>
        </p:nvSpPr>
        <p:spPr>
          <a:xfrm>
            <a:off x="402834" y="3582269"/>
            <a:ext cx="4740666" cy="28443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marR="62865" lvl="0" indent="0" algn="ctr" defTabSz="457200" rtl="0" eaLnBrk="0" fontAlgn="base" latinLnBrk="0" hangingPunct="0">
              <a:lnSpc>
                <a:spcPct val="15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Estrategia Defensiva</a:t>
            </a:r>
          </a:p>
          <a:p>
            <a:pPr algn="just"/>
            <a:r>
              <a:rPr lang="es-SV" sz="1600" b="1" dirty="0">
                <a:latin typeface="Arial" panose="020B0604020202020204" pitchFamily="34" charset="0"/>
                <a:cs typeface="Arial" panose="020B0604020202020204" pitchFamily="34" charset="0"/>
              </a:rPr>
              <a:t>Inversión en Infraestructura Tecnológica</a:t>
            </a:r>
            <a:r>
              <a:rPr lang="es-SV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Aumentar la inversión en infraestructura en tecnología mediante la búsqueda de fondos y colaboraciones con el sector privado. Priorizar la modernización de laboratorios, bibliotecas digitales, servicios en la nube y aulas tecnológicas para mejorar la percepción de modernidad y competitividad de la universidad 	</a:t>
            </a:r>
          </a:p>
          <a:p>
            <a:pPr algn="just"/>
            <a:endParaRPr kumimoji="0" lang="es-MX" sz="1600" b="1" i="0" u="none" strike="noStrike" kern="120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kumimoji="0" lang="es-MX" sz="1600" b="1" i="0" u="none" strike="noStrike" kern="120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A6DF46E4-27DF-4775-AC59-0B7414FC3FD1}"/>
              </a:ext>
            </a:extLst>
          </p:cNvPr>
          <p:cNvSpPr txBox="1"/>
          <p:nvPr/>
        </p:nvSpPr>
        <p:spPr>
          <a:xfrm>
            <a:off x="5369830" y="3582269"/>
            <a:ext cx="4740666" cy="28443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marR="62865" lvl="0" indent="0" algn="just" defTabSz="457200" rtl="0" eaLnBrk="0" fontAlgn="base" latinLnBrk="0" hangingPunct="0">
              <a:lnSpc>
                <a:spcPct val="15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Estrategia Defensiva</a:t>
            </a:r>
          </a:p>
          <a:p>
            <a:pPr algn="just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Automatización de Procesos Administrativos y Académicos </a:t>
            </a:r>
            <a:r>
              <a:rPr lang="es-SV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Implementar sistemas de gestión automatizados para inscripciones, atención al estudiante, compras y gestión de recursos humanos. Utilizar tecnologías como Planificación de Recursos Empresariales (ERP con sus siglas en inglés) para mejorar la eficiencia y reducir errores administrativos, proporcionando una mejor experiencia al usuario. 	</a:t>
            </a:r>
          </a:p>
          <a:p>
            <a:pPr algn="just"/>
            <a:endParaRPr kumimoji="0" lang="es-MX" sz="1600" b="1" i="0" u="none" strike="noStrike" kern="120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8D6B20CE-4663-4F12-83FF-6176F8E7F461}"/>
              </a:ext>
            </a:extLst>
          </p:cNvPr>
          <p:cNvSpPr txBox="1"/>
          <p:nvPr/>
        </p:nvSpPr>
        <p:spPr>
          <a:xfrm>
            <a:off x="612057" y="2370077"/>
            <a:ext cx="9272109" cy="1099788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marR="62865">
              <a:lnSpc>
                <a:spcPct val="150000"/>
              </a:lnSpc>
              <a:spcBef>
                <a:spcPts val="100"/>
              </a:spcBef>
              <a:defRPr/>
            </a:pPr>
            <a:r>
              <a:rPr lang="es-SV" sz="1600" b="1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Indicador BSC 34 </a:t>
            </a:r>
            <a:r>
              <a:rPr lang="es-SV" sz="1600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: </a:t>
            </a:r>
            <a:r>
              <a:rPr lang="es-419" sz="1600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Porcentaje de avance de la ruta de trabajo De transformación digital</a:t>
            </a:r>
            <a:r>
              <a:rPr lang="es-SV" sz="1600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</a:p>
          <a:p>
            <a:pPr marL="12700" marR="62865">
              <a:lnSpc>
                <a:spcPct val="150000"/>
              </a:lnSpc>
              <a:spcBef>
                <a:spcPts val="100"/>
              </a:spcBef>
              <a:defRPr/>
            </a:pPr>
            <a:r>
              <a:rPr lang="es-SV" sz="1600" b="1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Indicador BSC 36 </a:t>
            </a:r>
            <a:r>
              <a:rPr lang="es-SV" sz="1600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: </a:t>
            </a:r>
            <a:r>
              <a:rPr lang="es-419" sz="1600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Porcentaje de avance </a:t>
            </a:r>
            <a:r>
              <a:rPr lang="es-SV" sz="1600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de proyectos de infraestructura física.</a:t>
            </a:r>
          </a:p>
          <a:p>
            <a:pPr marL="12700" marR="62865">
              <a:lnSpc>
                <a:spcPct val="150000"/>
              </a:lnSpc>
              <a:spcBef>
                <a:spcPts val="100"/>
              </a:spcBef>
              <a:defRPr/>
            </a:pPr>
            <a:r>
              <a:rPr lang="es-SV" sz="1600" b="1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Indicador BSC 37 </a:t>
            </a:r>
            <a:r>
              <a:rPr lang="es-SV" sz="1600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: </a:t>
            </a:r>
            <a:r>
              <a:rPr lang="es-419" sz="1600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Porcentaje de avance </a:t>
            </a:r>
            <a:r>
              <a:rPr lang="es-SV" sz="1600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de proyectos de infraestructura tecnológica.</a:t>
            </a:r>
          </a:p>
        </p:txBody>
      </p:sp>
    </p:spTree>
    <p:extLst>
      <p:ext uri="{BB962C8B-B14F-4D97-AF65-F5344CB8AC3E}">
        <p14:creationId xmlns:p14="http://schemas.microsoft.com/office/powerpoint/2010/main" val="3798124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72801DF1-F393-4DD5-A69E-AA0D73C87EFA}"/>
              </a:ext>
            </a:extLst>
          </p:cNvPr>
          <p:cNvSpPr/>
          <p:nvPr/>
        </p:nvSpPr>
        <p:spPr>
          <a:xfrm>
            <a:off x="870598" y="220780"/>
            <a:ext cx="7145368" cy="538743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4. </a:t>
            </a: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Características del Sistema de Gestión Universitaria UEES</a:t>
            </a: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: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5E8209A-6A96-4AA3-8C8B-E05BC823CC5B}"/>
              </a:ext>
            </a:extLst>
          </p:cNvPr>
          <p:cNvSpPr/>
          <p:nvPr/>
        </p:nvSpPr>
        <p:spPr>
          <a:xfrm>
            <a:off x="141397" y="982018"/>
            <a:ext cx="8603769" cy="4524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s-MX" b="1" dirty="0"/>
              <a:t>Alta Disponibilidad: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MX" dirty="0"/>
              <a:t>Objetivo: Garantizar que el sistema esté disponible y operativo 24/7, minimizando el tiempo de inactividad.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dirty="0"/>
              <a:t>Acciones: </a:t>
            </a:r>
            <a:r>
              <a:rPr lang="es-419" dirty="0"/>
              <a:t>Implementar redundancia en servidores y bases de datos a nivel local</a:t>
            </a:r>
            <a:r>
              <a:rPr lang="es-MX" dirty="0"/>
              <a:t>, y establecer procedimientos de recuperación ante desastres.</a:t>
            </a:r>
          </a:p>
          <a:p>
            <a:pPr marL="342900" indent="-342900">
              <a:buFont typeface="+mj-lt"/>
              <a:buAutoNum type="alphaLcParenR"/>
            </a:pPr>
            <a:r>
              <a:rPr lang="es-MX" b="1" dirty="0"/>
              <a:t>Analítica de Datos</a:t>
            </a:r>
            <a:r>
              <a:rPr lang="es-MX" dirty="0"/>
              <a:t>: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MX" dirty="0"/>
              <a:t>Objetivo: Proveer herramientas avanzadas de análisis de datos para mejorar la toma de decisiones académicas y administrativas.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MX" dirty="0"/>
              <a:t>Acciones: Integrar sistemas de </a:t>
            </a:r>
            <a:r>
              <a:rPr lang="es-SV" dirty="0"/>
              <a:t>Inteligencia de Negocios </a:t>
            </a:r>
            <a:r>
              <a:rPr lang="es-MX" dirty="0"/>
              <a:t>(BI), desarrollar </a:t>
            </a:r>
            <a:r>
              <a:rPr lang="es-MX" dirty="0" err="1"/>
              <a:t>dashboards</a:t>
            </a:r>
            <a:r>
              <a:rPr lang="es-MX" dirty="0"/>
              <a:t> interactivos, y utilizar algoritmos de aprendizaje automático para identificar tendencias y patrones en los datos.</a:t>
            </a:r>
          </a:p>
          <a:p>
            <a:pPr marL="342900" indent="-342900">
              <a:buFont typeface="+mj-lt"/>
              <a:buAutoNum type="alphaLcParenR"/>
            </a:pPr>
            <a:r>
              <a:rPr lang="es-MX" b="1" dirty="0"/>
              <a:t>Seguridad y Privacidad: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MX" dirty="0"/>
              <a:t>Objetivo: Proteger la información sensible de estudiantes y personal, cumpliendo con las normativas de privacidad y seguridad de datos.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MX" dirty="0"/>
              <a:t>Acciones: Implementar cifrado de datos, establecer controles de acceso estrictos, y realizar auditorías de seguridad periódicas.</a:t>
            </a:r>
          </a:p>
        </p:txBody>
      </p:sp>
    </p:spTree>
    <p:extLst>
      <p:ext uri="{BB962C8B-B14F-4D97-AF65-F5344CB8AC3E}">
        <p14:creationId xmlns:p14="http://schemas.microsoft.com/office/powerpoint/2010/main" val="1202720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72801DF1-F393-4DD5-A69E-AA0D73C87EFA}"/>
              </a:ext>
            </a:extLst>
          </p:cNvPr>
          <p:cNvSpPr/>
          <p:nvPr/>
        </p:nvSpPr>
        <p:spPr>
          <a:xfrm>
            <a:off x="200006" y="259690"/>
            <a:ext cx="8584071" cy="969171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5. </a:t>
            </a: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Implementar la Arquitectura de un Data </a:t>
            </a:r>
            <a:r>
              <a:rPr lang="es-MX" sz="2000" kern="0" dirty="0" err="1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Wherehouse</a:t>
            </a: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 en la UEES, permitirá tener las siguientes ventajas: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5E8209A-6A96-4AA3-8C8B-E05BC823CC5B}"/>
              </a:ext>
            </a:extLst>
          </p:cNvPr>
          <p:cNvSpPr/>
          <p:nvPr/>
        </p:nvSpPr>
        <p:spPr>
          <a:xfrm>
            <a:off x="417546" y="1574469"/>
            <a:ext cx="5395426" cy="48936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lphaLcParenR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Integrar datos de diversas fuentes en una única plataforma centralizada. Esto significa que los datos de diferentes departamentos y sistemas pueden combinarse en una sola ubicación, lo que facilita el acceso y la gestión de los datos.</a:t>
            </a:r>
          </a:p>
          <a:p>
            <a:pPr marL="342900" indent="-342900" algn="just">
              <a:buFont typeface="+mj-lt"/>
              <a:buAutoNum type="alphaLcParenR"/>
            </a:pP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lphaLcParenR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Al tener todos los datos en una sola plataforma, es más fácil analizarlos y acceder a ellos de una forma más eficiente.  Un data </a:t>
            </a:r>
            <a:r>
              <a:rPr lang="es-MX" sz="1200" dirty="0" err="1">
                <a:latin typeface="Arial" panose="020B0604020202020204" pitchFamily="34" charset="0"/>
                <a:cs typeface="Arial" panose="020B0604020202020204" pitchFamily="34" charset="0"/>
              </a:rPr>
              <a:t>warehouse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 está diseñado específicamente para el análisis, lo que significa que las consultas y los informes se pueden realizar con mayor velocidad y precisión.</a:t>
            </a:r>
          </a:p>
          <a:p>
            <a:pPr marL="342900" indent="-342900" algn="just">
              <a:buFont typeface="+mj-lt"/>
              <a:buAutoNum type="alphaLcParenR"/>
            </a:pP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lphaLcParenR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Al tener acceso a una gran cantidad de datos de una forma más efectiva, permitirá a la Universidad tomar decisiones estratégicas basadas en datos. Esto permitirá identificar tendencias, oportunidades de mercado y riesgos antes que se conviertan en problemas (Sistema de Alerta Temprano).</a:t>
            </a:r>
          </a:p>
          <a:p>
            <a:pPr marL="342900" indent="-342900" algn="just">
              <a:buFont typeface="+mj-lt"/>
              <a:buAutoNum type="alphaLcParenR"/>
            </a:pP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lphaLcParenR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Al almacenar la información en un servidor separado, permitirá tener una capa adicional de seguridad de los datos y control de los accesos. Esto significa que los datos de la Universidad  están protegidos contra pérdidas o accesos no autorizados.</a:t>
            </a:r>
          </a:p>
          <a:p>
            <a:pPr marL="342900" indent="-342900" algn="just">
              <a:buFont typeface="+mj-lt"/>
              <a:buAutoNum type="alphaLcParenR"/>
            </a:pP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lphaLcParenR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La capacidad de almacenamiento y la velocidad de procesamiento son escalables, permitiendo aumentar según se requiera, lo que significa que la Universidad puede expandir su análisis de datos a medida que crece.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57DE501-89AB-48FE-A35A-887EB5A86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805" y="2495533"/>
            <a:ext cx="3935279" cy="224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38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2F3116D-9A34-4214-ADB9-1B7F3C0747B6}"/>
              </a:ext>
            </a:extLst>
          </p:cNvPr>
          <p:cNvSpPr/>
          <p:nvPr/>
        </p:nvSpPr>
        <p:spPr>
          <a:xfrm>
            <a:off x="2922379" y="960266"/>
            <a:ext cx="3730218" cy="754381"/>
          </a:xfrm>
          <a:prstGeom prst="rect">
            <a:avLst/>
          </a:prstGeom>
          <a:solidFill>
            <a:srgbClr val="0070C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Equipo para el Análisis del Sistema de Gestión Universitaria UEES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54C9008-567E-4CC1-91DE-DDCC18C3B05A}"/>
              </a:ext>
            </a:extLst>
          </p:cNvPr>
          <p:cNvSpPr/>
          <p:nvPr/>
        </p:nvSpPr>
        <p:spPr>
          <a:xfrm>
            <a:off x="469776" y="2371945"/>
            <a:ext cx="1514737" cy="5566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Equipo Académico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25F9893-7DA1-4161-9281-CFC3A063F201}"/>
              </a:ext>
            </a:extLst>
          </p:cNvPr>
          <p:cNvSpPr/>
          <p:nvPr/>
        </p:nvSpPr>
        <p:spPr>
          <a:xfrm>
            <a:off x="2788757" y="2358622"/>
            <a:ext cx="1514737" cy="5699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Equipo Contable &amp; Financiero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A4E0FA5-CAB8-4B7F-9F17-7091DB041C70}"/>
              </a:ext>
            </a:extLst>
          </p:cNvPr>
          <p:cNvSpPr/>
          <p:nvPr/>
        </p:nvSpPr>
        <p:spPr>
          <a:xfrm>
            <a:off x="7224432" y="2346516"/>
            <a:ext cx="1514735" cy="4985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Equipo Técnico TI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6169318-1EC1-42BF-9E11-E09C3B577759}"/>
              </a:ext>
            </a:extLst>
          </p:cNvPr>
          <p:cNvSpPr/>
          <p:nvPr/>
        </p:nvSpPr>
        <p:spPr>
          <a:xfrm>
            <a:off x="3030562" y="4924084"/>
            <a:ext cx="1514737" cy="389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Equipo Control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E2310FF-75DB-489F-80DE-E075CC486DC8}"/>
              </a:ext>
            </a:extLst>
          </p:cNvPr>
          <p:cNvSpPr txBox="1"/>
          <p:nvPr/>
        </p:nvSpPr>
        <p:spPr>
          <a:xfrm>
            <a:off x="291566" y="3029326"/>
            <a:ext cx="2173014" cy="1805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Director académico – Líder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Coordinación de Proceso académicos.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Técnico analista y Atención al estudiante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Nuevo Ingreso (1)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419" sz="928" b="1" dirty="0">
                <a:latin typeface="Arial" panose="020B0604020202020204" pitchFamily="34" charset="0"/>
                <a:cs typeface="Arial" panose="020B0604020202020204" pitchFamily="34" charset="0"/>
              </a:rPr>
              <a:t>Director de Proyección Social y Servicios Estudiantiles </a:t>
            </a: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(Becas)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77058D1-1253-4C7E-98FA-A8D178BA96B5}"/>
              </a:ext>
            </a:extLst>
          </p:cNvPr>
          <p:cNvSpPr txBox="1"/>
          <p:nvPr/>
        </p:nvSpPr>
        <p:spPr>
          <a:xfrm>
            <a:off x="2622735" y="3069528"/>
            <a:ext cx="2099866" cy="949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Subgerente contabilidad y finanzas – Líder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Atención financiara estudiante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Contador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9C70868-90A5-4F3B-83B8-EA7A4645CF4A}"/>
              </a:ext>
            </a:extLst>
          </p:cNvPr>
          <p:cNvSpPr txBox="1"/>
          <p:nvPr/>
        </p:nvSpPr>
        <p:spPr>
          <a:xfrm>
            <a:off x="4891301" y="3075525"/>
            <a:ext cx="2099864" cy="949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Jefe de TH – Líder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Encargada de Planillas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Encargada de Selección y Contratación de personal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F8035E0-DD9F-435A-BB89-2D9E25D38D76}"/>
              </a:ext>
            </a:extLst>
          </p:cNvPr>
          <p:cNvSpPr/>
          <p:nvPr/>
        </p:nvSpPr>
        <p:spPr>
          <a:xfrm>
            <a:off x="5137044" y="2358622"/>
            <a:ext cx="1514737" cy="4985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Equipo </a:t>
            </a:r>
          </a:p>
          <a:p>
            <a:pPr algn="ctr"/>
            <a:r>
              <a:rPr lang="es-MX" sz="1400" dirty="0"/>
              <a:t>Talento Humano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8C426BB-9FC2-4F01-BD0E-2D1BAB99DC22}"/>
              </a:ext>
            </a:extLst>
          </p:cNvPr>
          <p:cNvSpPr txBox="1"/>
          <p:nvPr/>
        </p:nvSpPr>
        <p:spPr>
          <a:xfrm>
            <a:off x="7163403" y="3029326"/>
            <a:ext cx="2349966" cy="1377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Subgerente Tecnología Información – Líder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Coordinador de Desarrollo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Coordinador de Soporte Técnico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Equipo de Desarrollo contratado para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CA0170A-33A5-4E5B-BDFC-E488599F7A49}"/>
              </a:ext>
            </a:extLst>
          </p:cNvPr>
          <p:cNvCxnSpPr/>
          <p:nvPr/>
        </p:nvCxnSpPr>
        <p:spPr>
          <a:xfrm>
            <a:off x="1099736" y="2059151"/>
            <a:ext cx="6901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FDE2592-E2C1-4928-8F9C-343100DC07AA}"/>
              </a:ext>
            </a:extLst>
          </p:cNvPr>
          <p:cNvCxnSpPr>
            <a:cxnSpLocks/>
          </p:cNvCxnSpPr>
          <p:nvPr/>
        </p:nvCxnSpPr>
        <p:spPr>
          <a:xfrm flipH="1">
            <a:off x="4778042" y="1721725"/>
            <a:ext cx="2" cy="326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7C176A5-C3E7-4338-8758-AF7E3FF21B94}"/>
              </a:ext>
            </a:extLst>
          </p:cNvPr>
          <p:cNvCxnSpPr/>
          <p:nvPr/>
        </p:nvCxnSpPr>
        <p:spPr>
          <a:xfrm>
            <a:off x="8000992" y="2059151"/>
            <a:ext cx="0" cy="2994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C968EAAA-1C38-4E0E-B2BD-00F4CA1DD405}"/>
              </a:ext>
            </a:extLst>
          </p:cNvPr>
          <p:cNvCxnSpPr>
            <a:endCxn id="25" idx="0"/>
          </p:cNvCxnSpPr>
          <p:nvPr/>
        </p:nvCxnSpPr>
        <p:spPr>
          <a:xfrm>
            <a:off x="5894412" y="2067322"/>
            <a:ext cx="0" cy="2913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056C205-3274-4F4D-B2E3-78D6505D1E17}"/>
              </a:ext>
            </a:extLst>
          </p:cNvPr>
          <p:cNvCxnSpPr/>
          <p:nvPr/>
        </p:nvCxnSpPr>
        <p:spPr>
          <a:xfrm>
            <a:off x="3414311" y="2059151"/>
            <a:ext cx="0" cy="312794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6C18C30-76F9-4803-90BD-D308644AFC4A}"/>
              </a:ext>
            </a:extLst>
          </p:cNvPr>
          <p:cNvCxnSpPr/>
          <p:nvPr/>
        </p:nvCxnSpPr>
        <p:spPr>
          <a:xfrm>
            <a:off x="1099736" y="2052073"/>
            <a:ext cx="0" cy="298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FBA7390-EBDD-41E9-B3E3-F2D2D7A387BC}"/>
              </a:ext>
            </a:extLst>
          </p:cNvPr>
          <p:cNvSpPr txBox="1"/>
          <p:nvPr/>
        </p:nvSpPr>
        <p:spPr>
          <a:xfrm>
            <a:off x="2947547" y="5435571"/>
            <a:ext cx="1854349" cy="1091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Jefe de auditoria – Líder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Auditor de Sistemas 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Auditor Administrativo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Auditor Académico</a:t>
            </a:r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EBC66AE3-FD9D-4C1A-8220-926C6457E343}"/>
              </a:ext>
            </a:extLst>
          </p:cNvPr>
          <p:cNvCxnSpPr>
            <a:cxnSpLocks/>
          </p:cNvCxnSpPr>
          <p:nvPr/>
        </p:nvCxnSpPr>
        <p:spPr>
          <a:xfrm>
            <a:off x="4778043" y="2044995"/>
            <a:ext cx="9445" cy="2541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5A59197-1B03-4C0D-B5CF-D873D6EED4FA}"/>
              </a:ext>
            </a:extLst>
          </p:cNvPr>
          <p:cNvSpPr txBox="1"/>
          <p:nvPr/>
        </p:nvSpPr>
        <p:spPr>
          <a:xfrm>
            <a:off x="4778042" y="1721725"/>
            <a:ext cx="3222950" cy="235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Subgerente Tecnología Información – Líder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1921DA2-67E6-4021-A4A9-265AC018B50E}"/>
              </a:ext>
            </a:extLst>
          </p:cNvPr>
          <p:cNvSpPr/>
          <p:nvPr/>
        </p:nvSpPr>
        <p:spPr>
          <a:xfrm>
            <a:off x="291566" y="5194116"/>
            <a:ext cx="2032071" cy="1351937"/>
          </a:xfrm>
          <a:prstGeom prst="rect">
            <a:avLst/>
          </a:prstGeom>
          <a:noFill/>
          <a:ln w="285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1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Participación de otras áreas:  </a:t>
            </a:r>
          </a:p>
          <a:p>
            <a:endParaRPr lang="es-MX" sz="101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92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 de procesos:</a:t>
            </a:r>
          </a:p>
          <a:p>
            <a:endParaRPr lang="es-MX" sz="928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4670" indent="-144670">
              <a:buFont typeface="Arial" panose="020B0604020202020204" pitchFamily="34" charset="0"/>
              <a:buChar char="•"/>
            </a:pPr>
            <a:r>
              <a:rPr lang="es-MX" sz="92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Coordinadora Unidad de egresados. (Graduados)</a:t>
            </a:r>
          </a:p>
          <a:p>
            <a:pPr marL="144670" indent="-144670">
              <a:buFont typeface="Arial" panose="020B0604020202020204" pitchFamily="34" charset="0"/>
              <a:buChar char="•"/>
            </a:pPr>
            <a:r>
              <a:rPr lang="es-MX" sz="92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Pyxoom (VRIV)</a:t>
            </a:r>
          </a:p>
          <a:p>
            <a:pPr marL="144670" indent="-144670">
              <a:buFont typeface="Arial" panose="020B0604020202020204" pitchFamily="34" charset="0"/>
              <a:buChar char="•"/>
            </a:pPr>
            <a:r>
              <a:rPr lang="es-MX" sz="92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Maestrías y Educación Continua</a:t>
            </a:r>
            <a:endParaRPr lang="es-MX" sz="928" dirty="0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13AAFD7-A96C-466C-8277-ACE328C13EF4}"/>
              </a:ext>
            </a:extLst>
          </p:cNvPr>
          <p:cNvCxnSpPr>
            <a:cxnSpLocks/>
          </p:cNvCxnSpPr>
          <p:nvPr/>
        </p:nvCxnSpPr>
        <p:spPr>
          <a:xfrm>
            <a:off x="1220065" y="4772306"/>
            <a:ext cx="0" cy="300936"/>
          </a:xfrm>
          <a:prstGeom prst="straightConnector1">
            <a:avLst/>
          </a:prstGeom>
          <a:ln w="38100">
            <a:solidFill>
              <a:srgbClr val="3A38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ángulo redondeado 4">
            <a:extLst>
              <a:ext uri="{FF2B5EF4-FFF2-40B4-BE49-F238E27FC236}">
                <a16:creationId xmlns:a16="http://schemas.microsoft.com/office/drawing/2014/main" id="{4D6589EC-3228-425D-9A58-A3DFB19EF9AB}"/>
              </a:ext>
            </a:extLst>
          </p:cNvPr>
          <p:cNvSpPr/>
          <p:nvPr/>
        </p:nvSpPr>
        <p:spPr>
          <a:xfrm>
            <a:off x="536617" y="311947"/>
            <a:ext cx="3413125" cy="549294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6. </a:t>
            </a: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Equipos: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FE4ECFE-047B-4B84-A6C9-AE711802E2BA}"/>
              </a:ext>
            </a:extLst>
          </p:cNvPr>
          <p:cNvSpPr/>
          <p:nvPr/>
        </p:nvSpPr>
        <p:spPr>
          <a:xfrm>
            <a:off x="5329812" y="4924084"/>
            <a:ext cx="1514737" cy="389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Equipo TD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CAE62B4-D0E1-4162-B302-F7CD4EDA6250}"/>
              </a:ext>
            </a:extLst>
          </p:cNvPr>
          <p:cNvSpPr txBox="1"/>
          <p:nvPr/>
        </p:nvSpPr>
        <p:spPr>
          <a:xfrm>
            <a:off x="5268040" y="5435570"/>
            <a:ext cx="2099864" cy="1091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Director desarrollo y transformación digital – Líder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Consultor externo TD</a:t>
            </a:r>
          </a:p>
          <a:p>
            <a:pPr marL="192893" indent="-192893">
              <a:buFont typeface="+mj-lt"/>
              <a:buAutoNum type="arabicPeriod"/>
            </a:pPr>
            <a:endParaRPr lang="es-MX" sz="928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2893" indent="-192893">
              <a:buFont typeface="+mj-lt"/>
              <a:buAutoNum type="arabicPeriod"/>
            </a:pPr>
            <a:r>
              <a:rPr lang="es-MX" sz="928" b="1" dirty="0">
                <a:latin typeface="Arial" panose="020B0604020202020204" pitchFamily="34" charset="0"/>
                <a:cs typeface="Arial" panose="020B0604020202020204" pitchFamily="34" charset="0"/>
              </a:rPr>
              <a:t>Analista de experiencia del usuario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1A85B2F-C48F-4B23-A472-4F5D6B2EE45A}"/>
              </a:ext>
            </a:extLst>
          </p:cNvPr>
          <p:cNvCxnSpPr>
            <a:cxnSpLocks/>
          </p:cNvCxnSpPr>
          <p:nvPr/>
        </p:nvCxnSpPr>
        <p:spPr>
          <a:xfrm>
            <a:off x="3672668" y="4586295"/>
            <a:ext cx="23981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B79F028E-E55F-433E-B990-40A4EEBEF88E}"/>
              </a:ext>
            </a:extLst>
          </p:cNvPr>
          <p:cNvCxnSpPr/>
          <p:nvPr/>
        </p:nvCxnSpPr>
        <p:spPr>
          <a:xfrm>
            <a:off x="3672668" y="4586295"/>
            <a:ext cx="0" cy="2913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6A8193FE-B920-4982-A846-B917122C4F47}"/>
              </a:ext>
            </a:extLst>
          </p:cNvPr>
          <p:cNvCxnSpPr/>
          <p:nvPr/>
        </p:nvCxnSpPr>
        <p:spPr>
          <a:xfrm>
            <a:off x="6070821" y="4586295"/>
            <a:ext cx="0" cy="2913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24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72801DF1-F393-4DD5-A69E-AA0D73C87EFA}"/>
              </a:ext>
            </a:extLst>
          </p:cNvPr>
          <p:cNvSpPr/>
          <p:nvPr/>
        </p:nvSpPr>
        <p:spPr>
          <a:xfrm>
            <a:off x="97066" y="164562"/>
            <a:ext cx="8834210" cy="849262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7. </a:t>
            </a: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Metodología  de Trabajo para el desarrollo del Sistema de Gestión Universitaria UEES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3CCA8ED-04EF-45E2-8E16-31C41B5630F2}"/>
              </a:ext>
            </a:extLst>
          </p:cNvPr>
          <p:cNvSpPr/>
          <p:nvPr/>
        </p:nvSpPr>
        <p:spPr>
          <a:xfrm>
            <a:off x="285523" y="1160073"/>
            <a:ext cx="8098972" cy="53553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Metodología Scrum </a:t>
            </a: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b="1" dirty="0"/>
              <a:t>Scrum</a:t>
            </a:r>
            <a:r>
              <a:rPr lang="es-419" dirty="0"/>
              <a:t> es una forma de trabajar en equipo para </a:t>
            </a:r>
            <a:r>
              <a:rPr lang="es-419" b="1" dirty="0"/>
              <a:t>organizarse mejor y avanzar paso a paso</a:t>
            </a:r>
            <a:r>
              <a:rPr lang="es-419" dirty="0"/>
              <a:t>. En lugar de hacer todo de una vez, el equipo trabaja en </a:t>
            </a:r>
            <a:r>
              <a:rPr lang="es-419" b="1" dirty="0"/>
              <a:t>bloques pequeños de tiempo</a:t>
            </a:r>
            <a:r>
              <a:rPr lang="es-419" dirty="0"/>
              <a:t> llamados </a:t>
            </a:r>
            <a:r>
              <a:rPr lang="es-419" b="1" dirty="0"/>
              <a:t>“</a:t>
            </a:r>
            <a:r>
              <a:rPr lang="es-419" b="1" dirty="0" err="1"/>
              <a:t>Sprints</a:t>
            </a:r>
            <a:r>
              <a:rPr lang="es-419" b="1" dirty="0"/>
              <a:t>"</a:t>
            </a:r>
            <a:r>
              <a:rPr lang="es-419" dirty="0"/>
              <a:t> (como mini metas semanales o quincenales). Cada sprint tiene una meta clara, y al terminarlo, el equipo revisa lo que hizo, aprende de ello y sigue con el siguiente bloque.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dirty="0"/>
              <a:t>Un </a:t>
            </a:r>
            <a:r>
              <a:rPr lang="es-419" b="1" dirty="0"/>
              <a:t>sprint</a:t>
            </a:r>
            <a:r>
              <a:rPr lang="es-419" dirty="0"/>
              <a:t> es un </a:t>
            </a:r>
            <a:r>
              <a:rPr lang="es-419" b="1" dirty="0"/>
              <a:t>período corto de tiempo</a:t>
            </a:r>
            <a:r>
              <a:rPr lang="es-419" dirty="0"/>
              <a:t> (normalmente de 1 a 4 semanas) en el que un equipo se enfoca en </a:t>
            </a:r>
            <a:r>
              <a:rPr lang="es-419" b="1" dirty="0"/>
              <a:t>cumplir una meta específica</a:t>
            </a:r>
            <a:r>
              <a:rPr lang="es-419" dirty="0"/>
              <a:t>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SV" b="1" dirty="0">
                <a:latin typeface="Arial" panose="020B0604020202020204" pitchFamily="34" charset="0"/>
                <a:cs typeface="Arial" panose="020B0604020202020204" pitchFamily="34" charset="0"/>
              </a:rPr>
              <a:t>¿Para qué sirve Scrum?</a:t>
            </a:r>
          </a:p>
          <a:p>
            <a:endParaRPr lang="es-SV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dirty="0"/>
              <a:t>Para </a:t>
            </a:r>
            <a:r>
              <a:rPr lang="es-419" b="1" dirty="0"/>
              <a:t>organizar el trabajo</a:t>
            </a:r>
            <a:r>
              <a:rPr lang="es-419" dirty="0"/>
              <a:t> de forma clara.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dirty="0"/>
              <a:t>Para </a:t>
            </a:r>
            <a:r>
              <a:rPr lang="es-419" b="1" dirty="0"/>
              <a:t>adaptarse rápido</a:t>
            </a:r>
            <a:r>
              <a:rPr lang="es-419" dirty="0"/>
              <a:t> si las cosas cambian.</a:t>
            </a:r>
            <a:endParaRPr lang="es-SV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dirty="0"/>
              <a:t>Para </a:t>
            </a:r>
            <a:r>
              <a:rPr lang="es-419" b="1" dirty="0"/>
              <a:t>entregar resultados parciales útiles</a:t>
            </a:r>
            <a:r>
              <a:rPr lang="es-419" dirty="0"/>
              <a:t> en poco tiempo.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dirty="0"/>
              <a:t>Para que </a:t>
            </a:r>
            <a:r>
              <a:rPr lang="es-419" b="1" dirty="0"/>
              <a:t>todos en el equipo sepan qué hacer y en qué están trabajando los demás</a:t>
            </a:r>
            <a:r>
              <a:rPr lang="es-419" dirty="0"/>
              <a:t>.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453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72801DF1-F393-4DD5-A69E-AA0D73C87EFA}"/>
              </a:ext>
            </a:extLst>
          </p:cNvPr>
          <p:cNvSpPr/>
          <p:nvPr/>
        </p:nvSpPr>
        <p:spPr>
          <a:xfrm>
            <a:off x="832304" y="327785"/>
            <a:ext cx="3413125" cy="549294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8. </a:t>
            </a: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Roles:</a:t>
            </a:r>
          </a:p>
        </p:txBody>
      </p: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5B3E3239-A6DB-41E1-A9FB-02A0E5A17DE4}"/>
              </a:ext>
            </a:extLst>
          </p:cNvPr>
          <p:cNvSpPr/>
          <p:nvPr/>
        </p:nvSpPr>
        <p:spPr>
          <a:xfrm>
            <a:off x="3381809" y="953446"/>
            <a:ext cx="3905026" cy="600164"/>
          </a:xfrm>
          <a:prstGeom prst="rect">
            <a:avLst/>
          </a:prstGeom>
          <a:solidFill>
            <a:srgbClr val="0070C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SV" dirty="0"/>
              <a:t>Product Owner</a:t>
            </a:r>
          </a:p>
          <a:p>
            <a:pPr algn="ctr"/>
            <a:r>
              <a:rPr lang="es-SV" dirty="0"/>
              <a:t>(Subgerente TI)</a:t>
            </a:r>
            <a:endParaRPr lang="es-MX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23CB481C-C132-4407-9E86-02F664F98E43}"/>
              </a:ext>
            </a:extLst>
          </p:cNvPr>
          <p:cNvCxnSpPr>
            <a:cxnSpLocks/>
          </p:cNvCxnSpPr>
          <p:nvPr/>
        </p:nvCxnSpPr>
        <p:spPr>
          <a:xfrm flipH="1">
            <a:off x="5334320" y="1553610"/>
            <a:ext cx="2" cy="387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4A74277B-B36F-459F-BBA8-B472E9B7F067}"/>
              </a:ext>
            </a:extLst>
          </p:cNvPr>
          <p:cNvCxnSpPr>
            <a:cxnSpLocks/>
          </p:cNvCxnSpPr>
          <p:nvPr/>
        </p:nvCxnSpPr>
        <p:spPr>
          <a:xfrm flipV="1">
            <a:off x="1244687" y="1940966"/>
            <a:ext cx="7829066" cy="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E5F6D510-6099-4171-8450-328CEC674486}"/>
              </a:ext>
            </a:extLst>
          </p:cNvPr>
          <p:cNvCxnSpPr>
            <a:cxnSpLocks/>
          </p:cNvCxnSpPr>
          <p:nvPr/>
        </p:nvCxnSpPr>
        <p:spPr>
          <a:xfrm flipH="1">
            <a:off x="1244687" y="1940966"/>
            <a:ext cx="2" cy="387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E5386494-1432-4DAB-BE00-4CD474D40F2B}"/>
              </a:ext>
            </a:extLst>
          </p:cNvPr>
          <p:cNvCxnSpPr>
            <a:cxnSpLocks/>
          </p:cNvCxnSpPr>
          <p:nvPr/>
        </p:nvCxnSpPr>
        <p:spPr>
          <a:xfrm flipH="1">
            <a:off x="5334318" y="1940966"/>
            <a:ext cx="2" cy="387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0C952078-B467-4BD7-BA8D-BB960168D108}"/>
              </a:ext>
            </a:extLst>
          </p:cNvPr>
          <p:cNvCxnSpPr>
            <a:cxnSpLocks/>
          </p:cNvCxnSpPr>
          <p:nvPr/>
        </p:nvCxnSpPr>
        <p:spPr>
          <a:xfrm flipH="1">
            <a:off x="9073751" y="1947954"/>
            <a:ext cx="2" cy="387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17149FE7-F576-4C30-B334-4AA76554CA04}"/>
              </a:ext>
            </a:extLst>
          </p:cNvPr>
          <p:cNvSpPr/>
          <p:nvPr/>
        </p:nvSpPr>
        <p:spPr>
          <a:xfrm>
            <a:off x="517132" y="2334047"/>
            <a:ext cx="2579880" cy="5909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SV" sz="1600" dirty="0"/>
              <a:t>Scrum Master  Académico (Coordinador de desarrollo )</a:t>
            </a:r>
            <a:endParaRPr lang="es-MX" sz="1600" dirty="0"/>
          </a:p>
        </p:txBody>
      </p:sp>
      <p:sp>
        <p:nvSpPr>
          <p:cNvPr id="112" name="Rectángulo 111">
            <a:extLst>
              <a:ext uri="{FF2B5EF4-FFF2-40B4-BE49-F238E27FC236}">
                <a16:creationId xmlns:a16="http://schemas.microsoft.com/office/drawing/2014/main" id="{C59FAB8C-F534-4F07-B3BB-13851E5BF86C}"/>
              </a:ext>
            </a:extLst>
          </p:cNvPr>
          <p:cNvSpPr/>
          <p:nvPr/>
        </p:nvSpPr>
        <p:spPr>
          <a:xfrm>
            <a:off x="4046922" y="2328323"/>
            <a:ext cx="2579890" cy="5972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SV" sz="1600" dirty="0"/>
              <a:t>Scrum Master Financiero y TH (Analista Financiero)</a:t>
            </a:r>
            <a:endParaRPr lang="es-MX" sz="1600" dirty="0"/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2528BB12-9547-4EFC-9E80-5104432C8A07}"/>
              </a:ext>
            </a:extLst>
          </p:cNvPr>
          <p:cNvSpPr/>
          <p:nvPr/>
        </p:nvSpPr>
        <p:spPr>
          <a:xfrm>
            <a:off x="7506178" y="2328322"/>
            <a:ext cx="2702992" cy="5979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SV" sz="1600" dirty="0"/>
              <a:t>Scrum Master  Infraestructura (Coordinador Infraestructura)</a:t>
            </a:r>
            <a:endParaRPr lang="es-MX" sz="1600" dirty="0"/>
          </a:p>
        </p:txBody>
      </p: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F39B2824-312F-4580-9952-70B8B1817DD5}"/>
              </a:ext>
            </a:extLst>
          </p:cNvPr>
          <p:cNvCxnSpPr>
            <a:cxnSpLocks/>
          </p:cNvCxnSpPr>
          <p:nvPr/>
        </p:nvCxnSpPr>
        <p:spPr>
          <a:xfrm flipH="1">
            <a:off x="9044567" y="2926223"/>
            <a:ext cx="2" cy="387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3C46341C-0783-4B30-B295-E319AC888DE6}"/>
              </a:ext>
            </a:extLst>
          </p:cNvPr>
          <p:cNvSpPr/>
          <p:nvPr/>
        </p:nvSpPr>
        <p:spPr>
          <a:xfrm>
            <a:off x="517132" y="3119115"/>
            <a:ext cx="2579883" cy="6005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SV" sz="1600" dirty="0"/>
              <a:t>Equipo de desarrollo Académico</a:t>
            </a:r>
            <a:endParaRPr lang="es-MX" sz="1600" dirty="0"/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0A018650-CA4C-48BC-97E9-13610AC65C54}"/>
              </a:ext>
            </a:extLst>
          </p:cNvPr>
          <p:cNvSpPr/>
          <p:nvPr/>
        </p:nvSpPr>
        <p:spPr>
          <a:xfrm>
            <a:off x="4056751" y="3121762"/>
            <a:ext cx="2570051" cy="5979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SV" sz="1600" dirty="0"/>
              <a:t>Equipo de desarrollo Financiero</a:t>
            </a:r>
            <a:endParaRPr lang="es-MX" sz="1600" dirty="0"/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9087396E-F851-4265-9017-701CBC063DC2}"/>
              </a:ext>
            </a:extLst>
          </p:cNvPr>
          <p:cNvSpPr/>
          <p:nvPr/>
        </p:nvSpPr>
        <p:spPr>
          <a:xfrm>
            <a:off x="7506178" y="3306592"/>
            <a:ext cx="2702989" cy="5909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SV" sz="1600" dirty="0"/>
              <a:t>Equipo de Infraestructura.</a:t>
            </a:r>
            <a:endParaRPr lang="es-MX" sz="1600" dirty="0"/>
          </a:p>
        </p:txBody>
      </p: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C3D83A21-5265-494D-A86D-207FEAC2E2DE}"/>
              </a:ext>
            </a:extLst>
          </p:cNvPr>
          <p:cNvCxnSpPr>
            <a:cxnSpLocks/>
          </p:cNvCxnSpPr>
          <p:nvPr/>
        </p:nvCxnSpPr>
        <p:spPr>
          <a:xfrm>
            <a:off x="3513827" y="2591504"/>
            <a:ext cx="5380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F89C0B89-6C5F-426A-BF66-FAC3D870392B}"/>
              </a:ext>
            </a:extLst>
          </p:cNvPr>
          <p:cNvCxnSpPr>
            <a:cxnSpLocks/>
          </p:cNvCxnSpPr>
          <p:nvPr/>
        </p:nvCxnSpPr>
        <p:spPr>
          <a:xfrm flipH="1">
            <a:off x="3513827" y="2591504"/>
            <a:ext cx="4915" cy="2485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ángulo 121">
            <a:extLst>
              <a:ext uri="{FF2B5EF4-FFF2-40B4-BE49-F238E27FC236}">
                <a16:creationId xmlns:a16="http://schemas.microsoft.com/office/drawing/2014/main" id="{9769AB5F-5B7D-44EB-9C15-D9260C30825A}"/>
              </a:ext>
            </a:extLst>
          </p:cNvPr>
          <p:cNvSpPr/>
          <p:nvPr/>
        </p:nvSpPr>
        <p:spPr>
          <a:xfrm>
            <a:off x="517132" y="3929012"/>
            <a:ext cx="2579887" cy="5909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SV" dirty="0"/>
              <a:t>Usuarios claves</a:t>
            </a:r>
          </a:p>
          <a:p>
            <a:pPr algn="ctr"/>
            <a:r>
              <a:rPr lang="es-SV" dirty="0"/>
              <a:t>(</a:t>
            </a:r>
            <a:r>
              <a:rPr lang="es-MX" dirty="0"/>
              <a:t>Equipo Académico)</a:t>
            </a:r>
          </a:p>
        </p:txBody>
      </p: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22BC4602-65EE-4A3B-BC24-78C785EB3F20}"/>
              </a:ext>
            </a:extLst>
          </p:cNvPr>
          <p:cNvCxnSpPr>
            <a:cxnSpLocks/>
          </p:cNvCxnSpPr>
          <p:nvPr/>
        </p:nvCxnSpPr>
        <p:spPr>
          <a:xfrm>
            <a:off x="3518742" y="3394159"/>
            <a:ext cx="5380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5EB138CC-B423-44E8-9ABA-C84D52E4EF8E}"/>
              </a:ext>
            </a:extLst>
          </p:cNvPr>
          <p:cNvSpPr/>
          <p:nvPr/>
        </p:nvSpPr>
        <p:spPr>
          <a:xfrm>
            <a:off x="4056763" y="4714244"/>
            <a:ext cx="2570049" cy="5851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SV" dirty="0"/>
              <a:t>Usuarios claves</a:t>
            </a:r>
          </a:p>
          <a:p>
            <a:pPr algn="ctr"/>
            <a:r>
              <a:rPr lang="es-SV" dirty="0"/>
              <a:t>(</a:t>
            </a:r>
            <a:r>
              <a:rPr lang="es-MX" dirty="0"/>
              <a:t>Equipo Financiero y TH)</a:t>
            </a:r>
          </a:p>
        </p:txBody>
      </p: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8F5654F6-C267-49DD-AF8B-8FAB5A306DC9}"/>
              </a:ext>
            </a:extLst>
          </p:cNvPr>
          <p:cNvCxnSpPr>
            <a:cxnSpLocks/>
          </p:cNvCxnSpPr>
          <p:nvPr/>
        </p:nvCxnSpPr>
        <p:spPr>
          <a:xfrm>
            <a:off x="7144123" y="2591504"/>
            <a:ext cx="0" cy="1795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125">
            <a:extLst>
              <a:ext uri="{FF2B5EF4-FFF2-40B4-BE49-F238E27FC236}">
                <a16:creationId xmlns:a16="http://schemas.microsoft.com/office/drawing/2014/main" id="{5018C7BF-67D5-43AD-802C-ECF9533F5E25}"/>
              </a:ext>
            </a:extLst>
          </p:cNvPr>
          <p:cNvCxnSpPr>
            <a:cxnSpLocks/>
          </p:cNvCxnSpPr>
          <p:nvPr/>
        </p:nvCxnSpPr>
        <p:spPr>
          <a:xfrm>
            <a:off x="7136928" y="2591504"/>
            <a:ext cx="3674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FD92C12F-5A43-4A9A-8CD7-34CE4E382BC7}"/>
              </a:ext>
            </a:extLst>
          </p:cNvPr>
          <p:cNvCxnSpPr>
            <a:cxnSpLocks/>
          </p:cNvCxnSpPr>
          <p:nvPr/>
        </p:nvCxnSpPr>
        <p:spPr>
          <a:xfrm>
            <a:off x="7128282" y="4387414"/>
            <a:ext cx="4042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7B0346C3-BDE1-4D50-86F2-89A9D849DD8A}"/>
              </a:ext>
            </a:extLst>
          </p:cNvPr>
          <p:cNvSpPr/>
          <p:nvPr/>
        </p:nvSpPr>
        <p:spPr>
          <a:xfrm>
            <a:off x="7506178" y="4097704"/>
            <a:ext cx="2702990" cy="5909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SV" sz="1600" dirty="0"/>
              <a:t>Usuarios claves</a:t>
            </a:r>
          </a:p>
          <a:p>
            <a:pPr algn="ctr"/>
            <a:r>
              <a:rPr lang="es-SV" sz="1600" dirty="0"/>
              <a:t>Development</a:t>
            </a:r>
          </a:p>
        </p:txBody>
      </p:sp>
      <p:sp>
        <p:nvSpPr>
          <p:cNvPr id="130" name="Rectángulo 129">
            <a:extLst>
              <a:ext uri="{FF2B5EF4-FFF2-40B4-BE49-F238E27FC236}">
                <a16:creationId xmlns:a16="http://schemas.microsoft.com/office/drawing/2014/main" id="{D202890F-74A1-4F82-9AFC-7CE965CB814D}"/>
              </a:ext>
            </a:extLst>
          </p:cNvPr>
          <p:cNvSpPr/>
          <p:nvPr/>
        </p:nvSpPr>
        <p:spPr>
          <a:xfrm>
            <a:off x="2821190" y="6019945"/>
            <a:ext cx="1923282" cy="5909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  <a:p>
            <a:pPr algn="ctr"/>
            <a:r>
              <a:rPr lang="es-MX" dirty="0"/>
              <a:t>Equipo </a:t>
            </a:r>
          </a:p>
          <a:p>
            <a:pPr algn="ctr"/>
            <a:r>
              <a:rPr lang="es-MX" dirty="0"/>
              <a:t>Auditoria Interna</a:t>
            </a:r>
          </a:p>
          <a:p>
            <a:pPr algn="ctr"/>
            <a:endParaRPr lang="es-MX" dirty="0"/>
          </a:p>
        </p:txBody>
      </p:sp>
      <p:cxnSp>
        <p:nvCxnSpPr>
          <p:cNvPr id="133" name="Conector recto 132">
            <a:extLst>
              <a:ext uri="{FF2B5EF4-FFF2-40B4-BE49-F238E27FC236}">
                <a16:creationId xmlns:a16="http://schemas.microsoft.com/office/drawing/2014/main" id="{76B94A59-5A1E-43D4-9845-BD5EBAB07FA5}"/>
              </a:ext>
            </a:extLst>
          </p:cNvPr>
          <p:cNvCxnSpPr>
            <a:cxnSpLocks/>
          </p:cNvCxnSpPr>
          <p:nvPr/>
        </p:nvCxnSpPr>
        <p:spPr>
          <a:xfrm>
            <a:off x="3518742" y="5076532"/>
            <a:ext cx="5380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135">
            <a:extLst>
              <a:ext uri="{FF2B5EF4-FFF2-40B4-BE49-F238E27FC236}">
                <a16:creationId xmlns:a16="http://schemas.microsoft.com/office/drawing/2014/main" id="{C24F9338-64E2-47FB-9D81-E8697210911E}"/>
              </a:ext>
            </a:extLst>
          </p:cNvPr>
          <p:cNvCxnSpPr>
            <a:cxnSpLocks/>
          </p:cNvCxnSpPr>
          <p:nvPr/>
        </p:nvCxnSpPr>
        <p:spPr>
          <a:xfrm>
            <a:off x="3518742" y="4212313"/>
            <a:ext cx="5380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ángulo 136">
            <a:extLst>
              <a:ext uri="{FF2B5EF4-FFF2-40B4-BE49-F238E27FC236}">
                <a16:creationId xmlns:a16="http://schemas.microsoft.com/office/drawing/2014/main" id="{5320C6E2-C4DF-4F19-8099-3F61C049234D}"/>
              </a:ext>
            </a:extLst>
          </p:cNvPr>
          <p:cNvSpPr/>
          <p:nvPr/>
        </p:nvSpPr>
        <p:spPr>
          <a:xfrm>
            <a:off x="4051841" y="3925519"/>
            <a:ext cx="2570051" cy="5979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SV" sz="1600" dirty="0"/>
              <a:t>Equipo de desarrollo Talento Humano</a:t>
            </a:r>
            <a:endParaRPr lang="es-MX" sz="1600" dirty="0"/>
          </a:p>
        </p:txBody>
      </p:sp>
      <p:cxnSp>
        <p:nvCxnSpPr>
          <p:cNvPr id="139" name="Conector recto 138">
            <a:extLst>
              <a:ext uri="{FF2B5EF4-FFF2-40B4-BE49-F238E27FC236}">
                <a16:creationId xmlns:a16="http://schemas.microsoft.com/office/drawing/2014/main" id="{A4D62228-6FA3-4D5E-887C-A95C68AE15EB}"/>
              </a:ext>
            </a:extLst>
          </p:cNvPr>
          <p:cNvCxnSpPr>
            <a:cxnSpLocks/>
          </p:cNvCxnSpPr>
          <p:nvPr/>
        </p:nvCxnSpPr>
        <p:spPr>
          <a:xfrm>
            <a:off x="163134" y="2617230"/>
            <a:ext cx="0" cy="1597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63FB0E29-53C1-4391-9120-3388AD1572D7}"/>
              </a:ext>
            </a:extLst>
          </p:cNvPr>
          <p:cNvCxnSpPr>
            <a:cxnSpLocks/>
          </p:cNvCxnSpPr>
          <p:nvPr/>
        </p:nvCxnSpPr>
        <p:spPr>
          <a:xfrm>
            <a:off x="172461" y="2626958"/>
            <a:ext cx="336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143">
            <a:extLst>
              <a:ext uri="{FF2B5EF4-FFF2-40B4-BE49-F238E27FC236}">
                <a16:creationId xmlns:a16="http://schemas.microsoft.com/office/drawing/2014/main" id="{18492740-2558-4E4E-8DD5-26C8E206768D}"/>
              </a:ext>
            </a:extLst>
          </p:cNvPr>
          <p:cNvCxnSpPr>
            <a:cxnSpLocks/>
          </p:cNvCxnSpPr>
          <p:nvPr/>
        </p:nvCxnSpPr>
        <p:spPr>
          <a:xfrm>
            <a:off x="172461" y="3429000"/>
            <a:ext cx="336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ector recto 144">
            <a:extLst>
              <a:ext uri="{FF2B5EF4-FFF2-40B4-BE49-F238E27FC236}">
                <a16:creationId xmlns:a16="http://schemas.microsoft.com/office/drawing/2014/main" id="{BCB0F827-822B-411D-A1B1-F7D5F29183C9}"/>
              </a:ext>
            </a:extLst>
          </p:cNvPr>
          <p:cNvCxnSpPr>
            <a:cxnSpLocks/>
          </p:cNvCxnSpPr>
          <p:nvPr/>
        </p:nvCxnSpPr>
        <p:spPr>
          <a:xfrm>
            <a:off x="180376" y="4211988"/>
            <a:ext cx="336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ángulo 145">
            <a:extLst>
              <a:ext uri="{FF2B5EF4-FFF2-40B4-BE49-F238E27FC236}">
                <a16:creationId xmlns:a16="http://schemas.microsoft.com/office/drawing/2014/main" id="{F9F4241C-DA51-4CA1-A7FA-E50D9E5156CC}"/>
              </a:ext>
            </a:extLst>
          </p:cNvPr>
          <p:cNvSpPr/>
          <p:nvPr/>
        </p:nvSpPr>
        <p:spPr>
          <a:xfrm>
            <a:off x="75586" y="4755633"/>
            <a:ext cx="2429136" cy="1351937"/>
          </a:xfrm>
          <a:prstGeom prst="rect">
            <a:avLst/>
          </a:prstGeom>
          <a:noFill/>
          <a:ln w="285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200" b="1" dirty="0">
                <a:solidFill>
                  <a:schemeClr val="tx1"/>
                </a:solidFill>
              </a:rPr>
              <a:t>Nota :</a:t>
            </a:r>
          </a:p>
          <a:p>
            <a:pPr algn="just"/>
            <a:r>
              <a:rPr lang="es-419" sz="1200" b="1" dirty="0">
                <a:solidFill>
                  <a:schemeClr val="tx1"/>
                </a:solidFill>
              </a:rPr>
              <a:t>Los equipos de Desarrollo por Área</a:t>
            </a:r>
          </a:p>
          <a:p>
            <a:pPr algn="just"/>
            <a:r>
              <a:rPr lang="es-SV" sz="1200" b="1" dirty="0">
                <a:solidFill>
                  <a:schemeClr val="tx1"/>
                </a:solidFill>
              </a:rPr>
              <a:t>estará conformado por 2 analistas.</a:t>
            </a:r>
          </a:p>
        </p:txBody>
      </p: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943E0412-EAD4-4D0D-A733-8C52B4F770B6}"/>
              </a:ext>
            </a:extLst>
          </p:cNvPr>
          <p:cNvCxnSpPr>
            <a:cxnSpLocks/>
          </p:cNvCxnSpPr>
          <p:nvPr/>
        </p:nvCxnSpPr>
        <p:spPr>
          <a:xfrm>
            <a:off x="2644183" y="5728471"/>
            <a:ext cx="5488138" cy="8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152">
            <a:extLst>
              <a:ext uri="{FF2B5EF4-FFF2-40B4-BE49-F238E27FC236}">
                <a16:creationId xmlns:a16="http://schemas.microsoft.com/office/drawing/2014/main" id="{824EA2F2-AA88-4A0D-BFD7-64872D033456}"/>
              </a:ext>
            </a:extLst>
          </p:cNvPr>
          <p:cNvCxnSpPr>
            <a:cxnSpLocks/>
          </p:cNvCxnSpPr>
          <p:nvPr/>
        </p:nvCxnSpPr>
        <p:spPr>
          <a:xfrm>
            <a:off x="8112865" y="4905592"/>
            <a:ext cx="0" cy="826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A7476E45-5C65-4777-A97A-CB0AA02433ED}"/>
              </a:ext>
            </a:extLst>
          </p:cNvPr>
          <p:cNvCxnSpPr>
            <a:cxnSpLocks/>
          </p:cNvCxnSpPr>
          <p:nvPr/>
        </p:nvCxnSpPr>
        <p:spPr>
          <a:xfrm>
            <a:off x="2653911" y="4905592"/>
            <a:ext cx="0" cy="826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18D0587A-6AFB-46BA-B199-56E75E0C52CB}"/>
              </a:ext>
            </a:extLst>
          </p:cNvPr>
          <p:cNvSpPr/>
          <p:nvPr/>
        </p:nvSpPr>
        <p:spPr>
          <a:xfrm>
            <a:off x="5873712" y="6019946"/>
            <a:ext cx="2311559" cy="5909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  <a:p>
            <a:pPr algn="ctr"/>
            <a:r>
              <a:rPr lang="es-MX" dirty="0"/>
              <a:t>Equipo Transformación digital</a:t>
            </a:r>
          </a:p>
          <a:p>
            <a:pPr algn="ctr"/>
            <a:endParaRPr lang="es-MX" dirty="0"/>
          </a:p>
        </p:txBody>
      </p:sp>
      <p:cxnSp>
        <p:nvCxnSpPr>
          <p:cNvPr id="159" name="Conector recto 158">
            <a:extLst>
              <a:ext uri="{FF2B5EF4-FFF2-40B4-BE49-F238E27FC236}">
                <a16:creationId xmlns:a16="http://schemas.microsoft.com/office/drawing/2014/main" id="{93931B8D-4CEB-4433-9F01-2DB4C8E3776B}"/>
              </a:ext>
            </a:extLst>
          </p:cNvPr>
          <p:cNvCxnSpPr>
            <a:cxnSpLocks/>
          </p:cNvCxnSpPr>
          <p:nvPr/>
        </p:nvCxnSpPr>
        <p:spPr>
          <a:xfrm>
            <a:off x="3773423" y="5736800"/>
            <a:ext cx="0" cy="323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160">
            <a:extLst>
              <a:ext uri="{FF2B5EF4-FFF2-40B4-BE49-F238E27FC236}">
                <a16:creationId xmlns:a16="http://schemas.microsoft.com/office/drawing/2014/main" id="{BF9FDA97-1A6C-4C25-8857-53345FCC7B4C}"/>
              </a:ext>
            </a:extLst>
          </p:cNvPr>
          <p:cNvCxnSpPr>
            <a:cxnSpLocks/>
          </p:cNvCxnSpPr>
          <p:nvPr/>
        </p:nvCxnSpPr>
        <p:spPr>
          <a:xfrm>
            <a:off x="7278662" y="5736800"/>
            <a:ext cx="0" cy="323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21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72801DF1-F393-4DD5-A69E-AA0D73C87EFA}"/>
              </a:ext>
            </a:extLst>
          </p:cNvPr>
          <p:cNvSpPr/>
          <p:nvPr/>
        </p:nvSpPr>
        <p:spPr>
          <a:xfrm>
            <a:off x="832304" y="181870"/>
            <a:ext cx="3683712" cy="60527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9. </a:t>
            </a: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Procesos Principales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5EB55E-D293-41CC-9D43-FCC6C5D6DACF}"/>
              </a:ext>
            </a:extLst>
          </p:cNvPr>
          <p:cNvSpPr/>
          <p:nvPr/>
        </p:nvSpPr>
        <p:spPr>
          <a:xfrm>
            <a:off x="1495875" y="888945"/>
            <a:ext cx="6699380" cy="56938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Modulo Académico.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SV" sz="1400" dirty="0">
                <a:latin typeface="Arial" panose="020B0604020202020204" pitchFamily="34" charset="0"/>
                <a:cs typeface="Arial" panose="020B0604020202020204" pitchFamily="34" charset="0"/>
              </a:rPr>
              <a:t>Admisiones y Nuevo Ingreso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SV" sz="1400" dirty="0">
                <a:latin typeface="Arial" panose="020B0604020202020204" pitchFamily="34" charset="0"/>
                <a:cs typeface="Arial" panose="020B0604020202020204" pitchFamily="34" charset="0"/>
              </a:rPr>
              <a:t>Gestión de Becas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SV" sz="1400" dirty="0">
                <a:latin typeface="Arial" panose="020B0604020202020204" pitchFamily="34" charset="0"/>
                <a:cs typeface="Arial" panose="020B0604020202020204" pitchFamily="34" charset="0"/>
              </a:rPr>
              <a:t>Gestión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 la Academia y Matricula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SV" sz="1400" dirty="0">
                <a:latin typeface="Arial" panose="020B0604020202020204" pitchFamily="34" charset="0"/>
                <a:cs typeface="Arial" panose="020B0604020202020204" pitchFamily="34" charset="0"/>
              </a:rPr>
              <a:t>Gestión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 Evaluaciones y Notas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SV" sz="1400" dirty="0">
                <a:latin typeface="Arial" panose="020B0604020202020204" pitchFamily="34" charset="0"/>
                <a:cs typeface="Arial" panose="020B0604020202020204" pitchFamily="34" charset="0"/>
              </a:rPr>
              <a:t>Gestión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Curricular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Portal Estudiante(Pregrado, posgrado)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Portal Docente (Pregrado, posgrado)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SV" sz="1400" dirty="0">
                <a:latin typeface="Arial" panose="020B0604020202020204" pitchFamily="34" charset="0"/>
                <a:cs typeface="Arial" panose="020B0604020202020204" pitchFamily="34" charset="0"/>
              </a:rPr>
              <a:t>Administración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de gestiones en Línea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Proceso de cambio de carrera.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Proceso de cambio de planes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Procesos Financieros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Integración con Facturación Electronica.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Integraciones con sistemas Existentes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Indicadores para BSC</a:t>
            </a:r>
          </a:p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Modulo Financiero.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SV" sz="1400" dirty="0">
                <a:latin typeface="Arial" panose="020B0604020202020204" pitchFamily="34" charset="0"/>
                <a:cs typeface="Arial" panose="020B0604020202020204" pitchFamily="34" charset="0"/>
              </a:rPr>
              <a:t>Contabilidad(Partidas</a:t>
            </a:r>
            <a:r>
              <a:rPr lang="es-SV" sz="1400" dirty="0"/>
              <a:t> </a:t>
            </a:r>
            <a:r>
              <a:rPr lang="es-SV" sz="1400" dirty="0">
                <a:latin typeface="Arial" panose="020B0604020202020204" pitchFamily="34" charset="0"/>
                <a:cs typeface="Arial" panose="020B0604020202020204" pitchFamily="34" charset="0"/>
              </a:rPr>
              <a:t>Contables,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catálogos de cuenta, Centro de costo)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Reportes y Libros Legales.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Cajas(Facturación Odontología, Librería, Portal estudiante)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Caja y Bancos(Tesorería)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Cuentas por pagar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Cuentas por Cobrar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Activo Fijo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Integración con Facturación Electronica.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Integraciones con sistemas Existentes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Indicadores para BSC</a:t>
            </a:r>
          </a:p>
        </p:txBody>
      </p:sp>
    </p:spTree>
    <p:extLst>
      <p:ext uri="{BB962C8B-B14F-4D97-AF65-F5344CB8AC3E}">
        <p14:creationId xmlns:p14="http://schemas.microsoft.com/office/powerpoint/2010/main" val="544790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72801DF1-F393-4DD5-A69E-AA0D73C87EFA}"/>
              </a:ext>
            </a:extLst>
          </p:cNvPr>
          <p:cNvSpPr/>
          <p:nvPr/>
        </p:nvSpPr>
        <p:spPr>
          <a:xfrm>
            <a:off x="832304" y="327785"/>
            <a:ext cx="3683712" cy="60527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- </a:t>
            </a: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Procesos Principales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5EB55E-D293-41CC-9D43-FCC6C5D6DACF}"/>
              </a:ext>
            </a:extLst>
          </p:cNvPr>
          <p:cNvSpPr/>
          <p:nvPr/>
        </p:nvSpPr>
        <p:spPr>
          <a:xfrm>
            <a:off x="1651518" y="1239935"/>
            <a:ext cx="6699380" cy="31085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Modulo RRHH y PLANILLAS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Planillas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Gestión de desempeño(</a:t>
            </a:r>
            <a:r>
              <a:rPr lang="es-419" sz="1400" dirty="0">
                <a:latin typeface="Arial" panose="020B0604020202020204" pitchFamily="34" charset="0"/>
                <a:cs typeface="Arial" panose="020B0604020202020204" pitchFamily="34" charset="0"/>
              </a:rPr>
              <a:t>evaluación docente, evaluación administrativa, competencia de técnicas conductuales, evaluación de desempeño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419" sz="1400" dirty="0">
                <a:latin typeface="Arial" panose="020B0604020202020204" pitchFamily="34" charset="0"/>
                <a:cs typeface="Arial" panose="020B0604020202020204" pitchFamily="34" charset="0"/>
              </a:rPr>
              <a:t>Selección y contratación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419" sz="1400" dirty="0">
                <a:latin typeface="Arial" panose="020B0604020202020204" pitchFamily="34" charset="0"/>
                <a:cs typeface="Arial" panose="020B0604020202020204" pitchFamily="34" charset="0"/>
              </a:rPr>
              <a:t>Clima y cultura organizacional.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419" sz="1400" dirty="0">
                <a:latin typeface="Arial" panose="020B0604020202020204" pitchFamily="34" charset="0"/>
                <a:cs typeface="Arial" panose="020B0604020202020204" pitchFamily="34" charset="0"/>
              </a:rPr>
              <a:t>Desarrollo (Capacitación y Formación + Evaluación del Desempeño)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Indicadores para BSC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s-419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s-419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s-419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s-419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s-419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52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72801DF1-F393-4DD5-A69E-AA0D73C87EFA}"/>
              </a:ext>
            </a:extLst>
          </p:cNvPr>
          <p:cNvSpPr/>
          <p:nvPr/>
        </p:nvSpPr>
        <p:spPr>
          <a:xfrm>
            <a:off x="512275" y="327785"/>
            <a:ext cx="4943346" cy="44665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10. </a:t>
            </a: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FASES DEL PROYECTO 2025-2028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BA104E1-4ECC-427E-9A43-0FFDD5EFF25E}"/>
              </a:ext>
            </a:extLst>
          </p:cNvPr>
          <p:cNvSpPr/>
          <p:nvPr/>
        </p:nvSpPr>
        <p:spPr>
          <a:xfrm>
            <a:off x="258751" y="1197744"/>
            <a:ext cx="82821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MX" sz="1400" b="1" dirty="0">
                <a:solidFill>
                  <a:srgbClr val="3A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Nota:  </a:t>
            </a:r>
            <a:r>
              <a:rPr lang="es-MX" sz="1400" dirty="0">
                <a:solidFill>
                  <a:srgbClr val="3A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Cuando el proyecto completo se presente a las autoridades y este aprobado el presupuesto presentado, el orden de las fases será la siguiente: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5CAF8F75-1F8D-4F32-9EB4-908C59E587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942872"/>
              </p:ext>
            </p:extLst>
          </p:nvPr>
        </p:nvGraphicFramePr>
        <p:xfrm>
          <a:off x="258751" y="2286796"/>
          <a:ext cx="9769497" cy="1256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880BD1B5-3693-4314-B373-5656564DA276}"/>
              </a:ext>
            </a:extLst>
          </p:cNvPr>
          <p:cNvSpPr txBox="1"/>
          <p:nvPr/>
        </p:nvSpPr>
        <p:spPr>
          <a:xfrm>
            <a:off x="258752" y="3543154"/>
            <a:ext cx="1402098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Equipo Académico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Equipo Financiero Contable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Equipo de TH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Equipo TI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154CF7E-2FE0-41C3-A5BA-7405C7D750AE}"/>
              </a:ext>
            </a:extLst>
          </p:cNvPr>
          <p:cNvSpPr txBox="1"/>
          <p:nvPr/>
        </p:nvSpPr>
        <p:spPr>
          <a:xfrm>
            <a:off x="2014262" y="3517422"/>
            <a:ext cx="10118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Equipo TI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BB681BB-2C8E-4B52-B8B6-BE1860B8E982}"/>
              </a:ext>
            </a:extLst>
          </p:cNvPr>
          <p:cNvSpPr txBox="1"/>
          <p:nvPr/>
        </p:nvSpPr>
        <p:spPr>
          <a:xfrm>
            <a:off x="3632688" y="3523513"/>
            <a:ext cx="10118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Equipo TI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14BA7F7-56A7-4F7C-B2C0-F207368AB051}"/>
              </a:ext>
            </a:extLst>
          </p:cNvPr>
          <p:cNvSpPr txBox="1"/>
          <p:nvPr/>
        </p:nvSpPr>
        <p:spPr>
          <a:xfrm>
            <a:off x="5073064" y="3517422"/>
            <a:ext cx="15880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Equipo TI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Equipo de control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s-MX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D93BD9E-9C3F-4186-9D85-9FF694FCAC38}"/>
              </a:ext>
            </a:extLst>
          </p:cNvPr>
          <p:cNvSpPr txBox="1"/>
          <p:nvPr/>
        </p:nvSpPr>
        <p:spPr>
          <a:xfrm>
            <a:off x="6937099" y="3539464"/>
            <a:ext cx="10118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Equipo TI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045A955-9FE5-41F3-9EA7-C202D3143BFB}"/>
              </a:ext>
            </a:extLst>
          </p:cNvPr>
          <p:cNvSpPr txBox="1"/>
          <p:nvPr/>
        </p:nvSpPr>
        <p:spPr>
          <a:xfrm>
            <a:off x="8836969" y="3598213"/>
            <a:ext cx="10118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Equipo TI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EE7B0F3-429F-434B-9B0B-FAFC4ACED82C}"/>
              </a:ext>
            </a:extLst>
          </p:cNvPr>
          <p:cNvSpPr/>
          <p:nvPr/>
        </p:nvSpPr>
        <p:spPr>
          <a:xfrm>
            <a:off x="2180651" y="4538626"/>
            <a:ext cx="6549940" cy="29998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b="1" dirty="0">
                <a:solidFill>
                  <a:schemeClr val="tx1"/>
                </a:solidFill>
              </a:rPr>
              <a:t>Equipo de control</a:t>
            </a:r>
            <a:r>
              <a:rPr lang="es-MX" sz="1100" dirty="0">
                <a:solidFill>
                  <a:schemeClr val="tx1"/>
                </a:solidFill>
              </a:rPr>
              <a:t>: Validación de entrega de requerimientos y de procesos de TI.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9D18540-2A2D-473D-B306-E577039C68ED}"/>
              </a:ext>
            </a:extLst>
          </p:cNvPr>
          <p:cNvSpPr/>
          <p:nvPr/>
        </p:nvSpPr>
        <p:spPr>
          <a:xfrm>
            <a:off x="258751" y="2140085"/>
            <a:ext cx="3185608" cy="2539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2025</a:t>
            </a:r>
            <a:endParaRPr lang="es-SV" b="1" dirty="0">
              <a:solidFill>
                <a:schemeClr val="tx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C6A67D7-B099-4A88-8389-2CC8A0DFFB17}"/>
              </a:ext>
            </a:extLst>
          </p:cNvPr>
          <p:cNvSpPr/>
          <p:nvPr/>
        </p:nvSpPr>
        <p:spPr>
          <a:xfrm>
            <a:off x="3444359" y="2140085"/>
            <a:ext cx="4610143" cy="2539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2026 - 2027</a:t>
            </a:r>
            <a:endParaRPr lang="es-SV" b="1" dirty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2FF5BCA-7F56-4C43-9CF6-CE2EB8883797}"/>
              </a:ext>
            </a:extLst>
          </p:cNvPr>
          <p:cNvSpPr/>
          <p:nvPr/>
        </p:nvSpPr>
        <p:spPr>
          <a:xfrm>
            <a:off x="8054502" y="2138240"/>
            <a:ext cx="1720627" cy="2539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2028</a:t>
            </a:r>
            <a:endParaRPr lang="es-SV" b="1" dirty="0">
              <a:solidFill>
                <a:schemeClr val="tx1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F6ADC9F-170A-468A-8FC4-51CD0995AB16}"/>
              </a:ext>
            </a:extLst>
          </p:cNvPr>
          <p:cNvSpPr/>
          <p:nvPr/>
        </p:nvSpPr>
        <p:spPr>
          <a:xfrm>
            <a:off x="2180651" y="4971157"/>
            <a:ext cx="6549940" cy="29998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b="1" dirty="0">
                <a:solidFill>
                  <a:schemeClr val="tx1"/>
                </a:solidFill>
              </a:rPr>
              <a:t>Equipo de Transformación Digital</a:t>
            </a:r>
            <a:r>
              <a:rPr lang="es-MX" sz="1100" dirty="0">
                <a:solidFill>
                  <a:schemeClr val="tx1"/>
                </a:solidFill>
              </a:rPr>
              <a:t>: Validación de Proceso y Experiencia de usuario.</a:t>
            </a:r>
          </a:p>
        </p:txBody>
      </p:sp>
    </p:spTree>
    <p:extLst>
      <p:ext uri="{BB962C8B-B14F-4D97-AF65-F5344CB8AC3E}">
        <p14:creationId xmlns:p14="http://schemas.microsoft.com/office/powerpoint/2010/main" val="58304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72801DF1-F393-4DD5-A69E-AA0D73C87EFA}"/>
              </a:ext>
            </a:extLst>
          </p:cNvPr>
          <p:cNvSpPr/>
          <p:nvPr/>
        </p:nvSpPr>
        <p:spPr>
          <a:xfrm>
            <a:off x="832304" y="327785"/>
            <a:ext cx="4943346" cy="44665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11. Transición en fase de implementación</a:t>
            </a:r>
            <a:endParaRPr lang="es-MX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4943D0-6CB0-477A-B03D-CA01927FC55D}"/>
              </a:ext>
            </a:extLst>
          </p:cNvPr>
          <p:cNvSpPr/>
          <p:nvPr/>
        </p:nvSpPr>
        <p:spPr>
          <a:xfrm>
            <a:off x="1281866" y="1064838"/>
            <a:ext cx="6699380" cy="24622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sz="1400" dirty="0">
                <a:latin typeface="Arial" panose="020B0604020202020204" pitchFamily="34" charset="0"/>
                <a:cs typeface="Arial" panose="020B0604020202020204" pitchFamily="34" charset="0"/>
              </a:rPr>
              <a:t>Los sistemas actuales estarán en operación y seguirá recibiendo soporte para asegurar la continuidad de las operaciones.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419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sz="1400" dirty="0">
                <a:latin typeface="Arial" panose="020B0604020202020204" pitchFamily="34" charset="0"/>
                <a:cs typeface="Arial" panose="020B0604020202020204" pitchFamily="34" charset="0"/>
              </a:rPr>
              <a:t>Durante el desarrollo del nuevo sistema, se implementarán módulos de manera progresiva para sustituir funciones específicas del sistema actual.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419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sz="1400" dirty="0">
                <a:latin typeface="Arial" panose="020B0604020202020204" pitchFamily="34" charset="0"/>
                <a:cs typeface="Arial" panose="020B0604020202020204" pitchFamily="34" charset="0"/>
              </a:rPr>
              <a:t>El nuevo sistema alimentará y sincronizará información con los sistemas existentes, garantizando la integridad y actualización de los datos.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419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sz="1400" dirty="0">
                <a:latin typeface="Arial" panose="020B0604020202020204" pitchFamily="34" charset="0"/>
                <a:cs typeface="Arial" panose="020B0604020202020204" pitchFamily="34" charset="0"/>
              </a:rPr>
              <a:t>Esta transición gradual asegura una migración controlada, minimizando riesgos operativos y facilitando la adaptación de los usuarios.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2FE86AE-7C92-434E-9B6D-CA62F8AB0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894" y="3686782"/>
            <a:ext cx="2859324" cy="273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297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72801DF1-F393-4DD5-A69E-AA0D73C87EFA}"/>
              </a:ext>
            </a:extLst>
          </p:cNvPr>
          <p:cNvSpPr/>
          <p:nvPr/>
        </p:nvSpPr>
        <p:spPr>
          <a:xfrm>
            <a:off x="2087172" y="25147"/>
            <a:ext cx="6473565" cy="470964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12. </a:t>
            </a: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PRESUPUESTO ESTIMADO DEL PROYECTO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C2A124-8F61-4501-B66F-8756CD457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226"/>
            <a:ext cx="10287000" cy="638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313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72801DF1-F393-4DD5-A69E-AA0D73C87EFA}"/>
              </a:ext>
            </a:extLst>
          </p:cNvPr>
          <p:cNvSpPr/>
          <p:nvPr/>
        </p:nvSpPr>
        <p:spPr>
          <a:xfrm>
            <a:off x="832304" y="327785"/>
            <a:ext cx="6837459" cy="60527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13. </a:t>
            </a: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📅 Cronograma Gantt (propuesta general 2025–2028)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249F12F-1C45-4D51-854A-1C56EDA3B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52" y="1692612"/>
            <a:ext cx="9390696" cy="352141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71372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72801DF1-F393-4DD5-A69E-AA0D73C87EFA}"/>
              </a:ext>
            </a:extLst>
          </p:cNvPr>
          <p:cNvSpPr/>
          <p:nvPr/>
        </p:nvSpPr>
        <p:spPr>
          <a:xfrm>
            <a:off x="832304" y="327785"/>
            <a:ext cx="7192759" cy="479738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14. </a:t>
            </a: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🎯 </a:t>
            </a:r>
            <a:r>
              <a:rPr lang="es-MX" sz="2000" kern="0" dirty="0" err="1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KPIs</a:t>
            </a: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 para seguimiento del proyecto y matriz de riesgos.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4B81FB3-0CC5-4CD3-B643-2A298E5EF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04" y="980309"/>
            <a:ext cx="7677214" cy="24486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4D73CC3-57AD-42DA-B1A0-624F1BDE2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04" y="3666931"/>
            <a:ext cx="6646765" cy="28726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1669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72801DF1-F393-4DD5-A69E-AA0D73C87EFA}"/>
              </a:ext>
            </a:extLst>
          </p:cNvPr>
          <p:cNvSpPr/>
          <p:nvPr/>
        </p:nvSpPr>
        <p:spPr>
          <a:xfrm>
            <a:off x="431087" y="421091"/>
            <a:ext cx="5157949" cy="60527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15. </a:t>
            </a: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🌱 Plan de Sostenibilidad Tecnológica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5D873D9-511E-4320-94AE-14509B529FB1}"/>
              </a:ext>
            </a:extLst>
          </p:cNvPr>
          <p:cNvSpPr/>
          <p:nvPr/>
        </p:nvSpPr>
        <p:spPr>
          <a:xfrm>
            <a:off x="537675" y="1187316"/>
            <a:ext cx="7857296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600" dirty="0"/>
              <a:t>Mantenimiento correctivo y evolutivo con contrato de soporte </a:t>
            </a:r>
            <a:r>
              <a:rPr lang="es-MX" sz="1600" dirty="0" err="1"/>
              <a:t>post-implementación</a:t>
            </a:r>
            <a:r>
              <a:rPr lang="es-MX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 dirty="0"/>
              <a:t>Actualizaciones periódicas de módulos cada 12 meses.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 dirty="0"/>
              <a:t>Evaluación tecnológica cada 3 años para analizar nuevas versiones o cambios de arquitectura.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 dirty="0"/>
              <a:t>Formación continua del equipo TI interno para mantener la autosuficiencia.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 dirty="0"/>
              <a:t>Infraestructura en la nube escalable, monitoreo continuo y </a:t>
            </a:r>
            <a:r>
              <a:rPr lang="es-MX" sz="1600" dirty="0" err="1"/>
              <a:t>backups</a:t>
            </a:r>
            <a:r>
              <a:rPr lang="es-MX" sz="1600" dirty="0"/>
              <a:t> automáticos.</a:t>
            </a:r>
            <a:endParaRPr lang="es-SV" sz="16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DC9398E-6677-42C3-B4EA-698098DF5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310917"/>
              </p:ext>
            </p:extLst>
          </p:nvPr>
        </p:nvGraphicFramePr>
        <p:xfrm>
          <a:off x="537675" y="4518169"/>
          <a:ext cx="7857296" cy="205740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1964324">
                  <a:extLst>
                    <a:ext uri="{9D8B030D-6E8A-4147-A177-3AD203B41FA5}">
                      <a16:colId xmlns:a16="http://schemas.microsoft.com/office/drawing/2014/main" val="2723418803"/>
                    </a:ext>
                  </a:extLst>
                </a:gridCol>
                <a:gridCol w="1964324">
                  <a:extLst>
                    <a:ext uri="{9D8B030D-6E8A-4147-A177-3AD203B41FA5}">
                      <a16:colId xmlns:a16="http://schemas.microsoft.com/office/drawing/2014/main" val="1273225541"/>
                    </a:ext>
                  </a:extLst>
                </a:gridCol>
                <a:gridCol w="1964324">
                  <a:extLst>
                    <a:ext uri="{9D8B030D-6E8A-4147-A177-3AD203B41FA5}">
                      <a16:colId xmlns:a16="http://schemas.microsoft.com/office/drawing/2014/main" val="1946572894"/>
                    </a:ext>
                  </a:extLst>
                </a:gridCol>
                <a:gridCol w="1964324">
                  <a:extLst>
                    <a:ext uri="{9D8B030D-6E8A-4147-A177-3AD203B41FA5}">
                      <a16:colId xmlns:a16="http://schemas.microsoft.com/office/drawing/2014/main" val="1020984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SV" sz="1100"/>
                        <a:t>Componente</a:t>
                      </a:r>
                      <a:endParaRPr lang="es-SV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 dirty="0"/>
                        <a:t>Tipo de licencia</a:t>
                      </a:r>
                      <a:endParaRPr lang="es-SV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 dirty="0"/>
                        <a:t>Periodicidad</a:t>
                      </a:r>
                      <a:endParaRPr lang="es-SV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/>
                        <a:t>Monto estimado</a:t>
                      </a:r>
                      <a:endParaRPr lang="es-SV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801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SV" sz="1100"/>
                        <a:t>ERP principal</a:t>
                      </a:r>
                      <a:endParaRPr lang="es-SV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 dirty="0"/>
                        <a:t>Licencia perpetua + mantenimiento</a:t>
                      </a:r>
                      <a:endParaRPr lang="es-SV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 dirty="0"/>
                        <a:t>Anual</a:t>
                      </a:r>
                      <a:endParaRPr lang="es-SV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 dirty="0"/>
                        <a:t>$10,000</a:t>
                      </a:r>
                      <a:endParaRPr lang="es-SV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625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SV" sz="1100"/>
                        <a:t>Base de datos</a:t>
                      </a:r>
                      <a:endParaRPr lang="es-SV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 dirty="0"/>
                        <a:t>Licencia por usuario concurrente</a:t>
                      </a:r>
                      <a:endParaRPr lang="es-SV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/>
                        <a:t>Anual</a:t>
                      </a:r>
                      <a:endParaRPr lang="es-SV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 dirty="0"/>
                        <a:t>$5,000</a:t>
                      </a:r>
                      <a:endParaRPr lang="es-SV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000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SV" sz="1100"/>
                        <a:t>BI y dashboards</a:t>
                      </a:r>
                      <a:endParaRPr lang="es-SV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 dirty="0"/>
                        <a:t>SaaS</a:t>
                      </a:r>
                      <a:endParaRPr lang="es-SV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/>
                        <a:t>Mensual</a:t>
                      </a:r>
                      <a:endParaRPr lang="es-SV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/>
                        <a:t>$800</a:t>
                      </a:r>
                      <a:endParaRPr lang="es-SV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865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SV" sz="1100" dirty="0"/>
                        <a:t>Soporte técnico</a:t>
                      </a:r>
                      <a:endParaRPr lang="es-SV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/>
                        <a:t>Contrato con proveedor</a:t>
                      </a:r>
                      <a:endParaRPr lang="es-SV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/>
                        <a:t>Anual</a:t>
                      </a:r>
                      <a:endParaRPr lang="es-SV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/>
                        <a:t>$12,000</a:t>
                      </a:r>
                      <a:endParaRPr lang="es-SV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234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SV" sz="1100"/>
                        <a:t>Seguridad y backups</a:t>
                      </a:r>
                      <a:endParaRPr lang="es-SV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/>
                        <a:t>Incluido en infraestructura cloud</a:t>
                      </a:r>
                      <a:endParaRPr lang="es-SV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/>
                        <a:t>Mensual</a:t>
                      </a:r>
                      <a:endParaRPr lang="es-SV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SV" sz="1100" dirty="0"/>
                        <a:t>$500</a:t>
                      </a:r>
                      <a:endParaRPr lang="es-SV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5838958"/>
                  </a:ext>
                </a:extLst>
              </a:tr>
            </a:tbl>
          </a:graphicData>
        </a:graphic>
      </p:graphicFrame>
      <p:sp>
        <p:nvSpPr>
          <p:cNvPr id="7" name="Rectángulo redondeado 4">
            <a:extLst>
              <a:ext uri="{FF2B5EF4-FFF2-40B4-BE49-F238E27FC236}">
                <a16:creationId xmlns:a16="http://schemas.microsoft.com/office/drawing/2014/main" id="{BBE7B766-BCD9-4BFB-9542-F0B3AAF6442E}"/>
              </a:ext>
            </a:extLst>
          </p:cNvPr>
          <p:cNvSpPr/>
          <p:nvPr/>
        </p:nvSpPr>
        <p:spPr>
          <a:xfrm>
            <a:off x="537675" y="3736611"/>
            <a:ext cx="6833509" cy="60527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🔐 Esquema de Licenciamiento y Mantenimiento</a:t>
            </a:r>
          </a:p>
        </p:txBody>
      </p:sp>
    </p:spTree>
    <p:extLst>
      <p:ext uri="{BB962C8B-B14F-4D97-AF65-F5344CB8AC3E}">
        <p14:creationId xmlns:p14="http://schemas.microsoft.com/office/powerpoint/2010/main" val="1491285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72801DF1-F393-4DD5-A69E-AA0D73C87EFA}"/>
              </a:ext>
            </a:extLst>
          </p:cNvPr>
          <p:cNvSpPr/>
          <p:nvPr/>
        </p:nvSpPr>
        <p:spPr>
          <a:xfrm>
            <a:off x="1560091" y="3126362"/>
            <a:ext cx="6837459" cy="60527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SV" sz="2000" kern="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Consultas</a:t>
            </a:r>
            <a:endParaRPr lang="es-MX" sz="2000" kern="0" dirty="0"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5629650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68718</TotalTime>
  <Words>1832</Words>
  <Application>Microsoft Office PowerPoint</Application>
  <PresentationFormat>Diapositivas de 35 mm</PresentationFormat>
  <Paragraphs>246</Paragraphs>
  <Slides>18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Calibri</vt:lpstr>
      <vt:lpstr>Gill Sans MT</vt:lpstr>
      <vt:lpstr>Microsoft Sans Serif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UEES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PUNTOS PARA DIRECTORIO EJECUTIVO</dc:title>
  <dc:creator>SOPORTE TECNICO</dc:creator>
  <cp:lastModifiedBy>Jonathan Avalos</cp:lastModifiedBy>
  <cp:revision>673</cp:revision>
  <cp:lastPrinted>2023-12-08T14:22:04Z</cp:lastPrinted>
  <dcterms:created xsi:type="dcterms:W3CDTF">2020-09-04T14:29:36Z</dcterms:created>
  <dcterms:modified xsi:type="dcterms:W3CDTF">2025-09-01T18:00:42Z</dcterms:modified>
</cp:coreProperties>
</file>